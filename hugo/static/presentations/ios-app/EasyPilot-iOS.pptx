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2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57400"/>
            <a:ext cx="10515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6200" b="1">
                <a:solidFill>
                  <a:srgbClr val="FFFFFF"/>
                </a:solidFill>
                <a:latin typeface="Segoe UI Semibold"/>
              </a:rPr>
              <a:t>EasyPilot </a:t>
            </a:r>
            <a:r>
              <a:rPr sz="6200" b="1">
                <a:solidFill>
                  <a:srgbClr val="2F80ED"/>
                </a:solidFill>
                <a:latin typeface="Segoe UI Semibold"/>
              </a:rPr>
              <a:t>iOS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3310128"/>
            <a:ext cx="1371600" cy="50800"/>
          </a:xfrm>
          <a:prstGeom prst="rect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3611880"/>
            <a:ext cx="9875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>
                <a:solidFill>
                  <a:srgbClr val="C4CEDE"/>
                </a:solidFill>
                <a:latin typeface="Segoe UI"/>
              </a:rPr>
              <a:t>SwiftUI-Companion-App für die EasyPilot-Drohne – findet die Drohne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>
                <a:solidFill>
                  <a:srgbClr val="C4CEDE"/>
                </a:solidFill>
                <a:latin typeface="Segoe UI"/>
              </a:rPr>
              <a:t>selbst im WLAN, zeigt Live-Telemetrie und einen 3D-Flugsimulator.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577840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1">
                <a:solidFill>
                  <a:srgbClr val="FFFFFF"/>
                </a:solidFill>
                <a:latin typeface="Segoe UI Semibold"/>
              </a:rPr>
              <a:t>Simon Eder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C4CEDE"/>
                </a:solidFill>
                <a:latin typeface="Segoe UI"/>
              </a:rPr>
              <a:t>Creator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22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57200"/>
            <a:ext cx="310896" cy="310896"/>
          </a:xfrm>
          <a:prstGeom prst="rect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0"/>
            <a:ext cx="9144000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3000" b="1">
                <a:solidFill>
                  <a:srgbClr val="FFFFFF"/>
                </a:solidFill>
                <a:latin typeface="Segoe UI Semibold"/>
              </a:rPr>
              <a:t>Was ist EasyPilot iOS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0"/>
            <a:ext cx="822960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2F80ED"/>
                </a:solidFill>
                <a:latin typeface="Segoe UI Semibold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691640"/>
            <a:ext cx="7498079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2700" b="1">
                <a:solidFill>
                  <a:srgbClr val="162133"/>
                </a:solidFill>
                <a:latin typeface="Segoe UI Semibold"/>
              </a:rPr>
              <a:t>iPhone wird zur Anzeige- und Steuerzentrale</a:t>
            </a:r>
          </a:p>
        </p:txBody>
      </p:sp>
      <p:sp>
        <p:nvSpPr>
          <p:cNvPr id="8" name="Rectangle 7"/>
          <p:cNvSpPr/>
          <p:nvPr/>
        </p:nvSpPr>
        <p:spPr>
          <a:xfrm>
            <a:off x="886968" y="2852928"/>
            <a:ext cx="1463040" cy="50800"/>
          </a:xfrm>
          <a:prstGeom prst="rect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3273551"/>
            <a:ext cx="54864" cy="566928"/>
          </a:xfrm>
          <a:prstGeom prst="rect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3246120"/>
            <a:ext cx="67665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</a:pPr>
            <a:r>
              <a:rPr sz="1650" b="0">
                <a:solidFill>
                  <a:srgbClr val="2B3340"/>
                </a:solidFill>
                <a:latin typeface="Segoe UI"/>
              </a:rPr>
              <a:t>Verbindet sich von selbst über das WLAN mit der Drohne – ohne Eingabe einer IP-Adresse.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" y="4325112"/>
            <a:ext cx="54864" cy="566928"/>
          </a:xfrm>
          <a:prstGeom prst="rect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4297680"/>
            <a:ext cx="67665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</a:pPr>
            <a:r>
              <a:rPr sz="1650" b="0">
                <a:solidFill>
                  <a:srgbClr val="2B3340"/>
                </a:solidFill>
                <a:latin typeface="Segoe UI"/>
              </a:rPr>
              <a:t>Zeigt die Telemetrie zehnmal pro Sekunde in Echtzeit an und bringt einen eigenen 3D-Flugsimulator direkt aufs Handy.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" y="5376672"/>
            <a:ext cx="54864" cy="566928"/>
          </a:xfrm>
          <a:prstGeom prst="rect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5349240"/>
            <a:ext cx="67665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</a:pPr>
            <a:r>
              <a:rPr sz="1650" b="0">
                <a:solidFill>
                  <a:srgbClr val="2B3340"/>
                </a:solidFill>
                <a:latin typeface="Segoe UI"/>
              </a:rPr>
              <a:t>Stabilisierungs- und Hilfsalgorithmen lassen sich durch die App steuern.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22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57200"/>
            <a:ext cx="310896" cy="310896"/>
          </a:xfrm>
          <a:prstGeom prst="rect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0"/>
            <a:ext cx="9144000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3000" b="1">
                <a:solidFill>
                  <a:srgbClr val="FFFFFF"/>
                </a:solidFill>
                <a:latin typeface="Segoe UI Semibold"/>
              </a:rPr>
              <a:t>Architektur &amp; Tech-Stack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0"/>
            <a:ext cx="822960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2F80ED"/>
                </a:solidFill>
                <a:latin typeface="Segoe UI Semibold"/>
              </a:rP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240280"/>
            <a:ext cx="2697480" cy="274320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395728"/>
            <a:ext cx="2697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6B7482"/>
                </a:solidFill>
                <a:latin typeface="Segoe UI Semibold"/>
              </a:rPr>
              <a:t>DROHNE</a:t>
            </a:r>
          </a:p>
        </p:txBody>
      </p:sp>
      <p:pic>
        <p:nvPicPr>
          <p:cNvPr id="9" name="Picture 8" descr="ch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4500" y="2788920"/>
            <a:ext cx="822960" cy="8229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749039"/>
            <a:ext cx="26974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1">
                <a:solidFill>
                  <a:srgbClr val="162133"/>
                </a:solidFill>
                <a:latin typeface="Segoe UI Semibold"/>
              </a:rPr>
              <a:t>ESP32-C3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160520"/>
            <a:ext cx="2697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0">
                <a:solidFill>
                  <a:srgbClr val="6B7482"/>
                </a:solidFill>
                <a:latin typeface="Segoe UI"/>
              </a:rPr>
              <a:t>WebSocket-Server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0">
                <a:solidFill>
                  <a:srgbClr val="6B7482"/>
                </a:solidFill>
                <a:latin typeface="Segoe UI"/>
              </a:rPr>
              <a:t>UDP-Beacon (Discovery)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474720" y="3310128"/>
            <a:ext cx="1417320" cy="0"/>
          </a:xfrm>
          <a:prstGeom prst="line">
            <a:avLst/>
          </a:prstGeom>
          <a:ln w="28575">
            <a:solidFill>
              <a:srgbClr val="222B3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383280" y="2697480"/>
            <a:ext cx="1600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>
                <a:solidFill>
                  <a:srgbClr val="6B7482"/>
                </a:solidFill>
                <a:latin typeface="Segoe UI Semibold"/>
              </a:rPr>
              <a:t>WLAN · WebSocket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3456432"/>
            <a:ext cx="1600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0">
                <a:solidFill>
                  <a:srgbClr val="6B7482"/>
                </a:solidFill>
                <a:latin typeface="Segoe UI"/>
              </a:rPr>
              <a:t>Telemetrie · 10 Hz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92040" y="1783080"/>
            <a:ext cx="6446520" cy="4526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2225">
            <a:solidFill>
              <a:srgbClr val="2F80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66359" y="1938528"/>
            <a:ext cx="38404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1">
                <a:solidFill>
                  <a:srgbClr val="162133"/>
                </a:solidFill>
                <a:latin typeface="Segoe UI Semibold"/>
              </a:rPr>
              <a:t>iPhone-App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66359" y="2359152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0">
                <a:solidFill>
                  <a:srgbClr val="6B7482"/>
                </a:solidFill>
                <a:latin typeface="Segoe UI"/>
              </a:rPr>
              <a:t>gebaut mit Swift &amp; SwiftUI</a:t>
            </a:r>
          </a:p>
        </p:txBody>
      </p:sp>
      <p:pic>
        <p:nvPicPr>
          <p:cNvPr id="18" name="Picture 17" descr="swi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8299" y="2068639"/>
            <a:ext cx="1143000" cy="352424"/>
          </a:xfrm>
          <a:prstGeom prst="rect">
            <a:avLst/>
          </a:prstGeom>
        </p:spPr>
      </p:pic>
      <p:pic>
        <p:nvPicPr>
          <p:cNvPr id="19" name="Picture 18" descr="swiftu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52175" y="1938528"/>
            <a:ext cx="566928" cy="566928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5166359" y="2880360"/>
            <a:ext cx="5897880" cy="96012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 w="12700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wifi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36107" y="2990088"/>
            <a:ext cx="740664" cy="740664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446519" y="3044952"/>
            <a:ext cx="44348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162133"/>
                </a:solidFill>
                <a:latin typeface="Segoe UI Semibold"/>
              </a:rPr>
              <a:t>Network.framework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19" y="3429000"/>
            <a:ext cx="4434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0">
                <a:solidFill>
                  <a:srgbClr val="6B7482"/>
                </a:solidFill>
                <a:latin typeface="Segoe UI"/>
              </a:rPr>
              <a:t>Verbindung &amp; Auto-Discovery zur Drohne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166359" y="3959352"/>
            <a:ext cx="5897880" cy="96012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 w="12700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cube3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36107" y="4069080"/>
            <a:ext cx="740664" cy="74066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446519" y="4123944"/>
            <a:ext cx="44348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162133"/>
                </a:solidFill>
                <a:latin typeface="Segoe UI Semibold"/>
              </a:rPr>
              <a:t>SceneKit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19" y="4507992"/>
            <a:ext cx="4434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0">
                <a:solidFill>
                  <a:srgbClr val="6B7482"/>
                </a:solidFill>
                <a:latin typeface="Segoe UI"/>
              </a:rPr>
              <a:t>Rendert den 3D-Flugsimulator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166359" y="5038344"/>
            <a:ext cx="5897880" cy="96012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 w="12700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gyro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36107" y="5148072"/>
            <a:ext cx="740664" cy="740664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446519" y="5202936"/>
            <a:ext cx="44348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162133"/>
                </a:solidFill>
                <a:latin typeface="Segoe UI Semibold"/>
              </a:rPr>
              <a:t>CoreMotion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19" y="5586983"/>
            <a:ext cx="4434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0">
                <a:solidFill>
                  <a:srgbClr val="6B7482"/>
                </a:solidFill>
                <a:latin typeface="Segoe UI"/>
              </a:rPr>
              <a:t>Liest das Gyroskop des Handys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2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4688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2F80ED"/>
                </a:solidFill>
                <a:latin typeface="Segoe UI Semibold"/>
              </a:rPr>
              <a:t>04  · 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26080"/>
            <a:ext cx="91440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6600" b="1">
                <a:solidFill>
                  <a:srgbClr val="FFFFFF"/>
                </a:solidFill>
                <a:latin typeface="Segoe UI Semibold"/>
              </a:rPr>
              <a:t>Live Demo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4343400"/>
            <a:ext cx="1463040" cy="50800"/>
          </a:xfrm>
          <a:prstGeom prst="rect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