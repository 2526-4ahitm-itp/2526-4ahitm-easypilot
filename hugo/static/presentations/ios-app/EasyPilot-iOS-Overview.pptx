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97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979FF"/>
                </a:solidFill>
                <a:latin typeface="Helvetica Neue"/>
              </a:rPr>
              <a:t>EASYPILOT · 4AHITM DRONE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E9EEFB"/>
                </a:solidFill>
                <a:latin typeface="Helvetica Neue"/>
              </a:rPr>
              <a:t>The EasyPilot </a:t>
            </a:r>
            <a:r>
              <a:rPr sz="5400" b="1">
                <a:solidFill>
                  <a:srgbClr val="2979FF"/>
                </a:solidFill>
                <a:latin typeface="Helvetica Neue"/>
              </a:rPr>
              <a:t>iOS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8686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8A97B8"/>
                </a:solidFill>
                <a:latin typeface="Helvetica Neue"/>
              </a:rPr>
              <a:t>A SwiftUI companion app that auto-discovers the drone on the network,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8A97B8"/>
                </a:solidFill>
                <a:latin typeface="Helvetica Neue"/>
              </a:rPr>
              <a:t>streams live telemetry at 10 Hz, flies a 3D simulator, and sends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8A97B8"/>
                </a:solidFill>
                <a:latin typeface="Helvetica Neue"/>
              </a:rPr>
              <a:t>flight commands over WebSocket.</a:t>
            </a:r>
          </a:p>
        </p:txBody>
      </p:sp>
      <p:pic>
        <p:nvPicPr>
          <p:cNvPr id="7" name="Picture 6" descr="sw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215128"/>
            <a:ext cx="1463040" cy="451104"/>
          </a:xfrm>
          <a:prstGeom prst="rect">
            <a:avLst/>
          </a:prstGeom>
        </p:spPr>
      </p:pic>
      <p:pic>
        <p:nvPicPr>
          <p:cNvPr id="8" name="Picture 7" descr="swift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5052060"/>
            <a:ext cx="777240" cy="777240"/>
          </a:xfrm>
          <a:prstGeom prst="rect">
            <a:avLst/>
          </a:prstGeom>
        </p:spPr>
      </p:pic>
      <p:pic>
        <p:nvPicPr>
          <p:cNvPr id="9" name="Picture 8" descr="scenek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5052060"/>
            <a:ext cx="777240" cy="777240"/>
          </a:xfrm>
          <a:prstGeom prst="rect">
            <a:avLst/>
          </a:prstGeom>
        </p:spPr>
      </p:pic>
      <p:pic>
        <p:nvPicPr>
          <p:cNvPr id="10" name="Picture 9" descr="coremo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5052060"/>
            <a:ext cx="777240" cy="777240"/>
          </a:xfrm>
          <a:prstGeom prst="rect">
            <a:avLst/>
          </a:prstGeom>
        </p:spPr>
      </p:pic>
      <p:pic>
        <p:nvPicPr>
          <p:cNvPr id="11" name="Picture 10" descr="netwo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5052060"/>
            <a:ext cx="777240" cy="777240"/>
          </a:xfrm>
          <a:prstGeom prst="rect">
            <a:avLst/>
          </a:prstGeom>
        </p:spPr>
      </p:pic>
      <p:pic>
        <p:nvPicPr>
          <p:cNvPr id="12" name="Picture 11" descr="es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2360" y="5276088"/>
            <a:ext cx="146304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979FF"/>
                </a:solidFill>
                <a:latin typeface="Helvetica Neue"/>
              </a:rP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E9EEFB"/>
                </a:solidFill>
                <a:latin typeface="Helvetica Neue"/>
              </a:rPr>
              <a:t>How the app talks to the drone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291840" cy="868680"/>
          </a:xfrm>
          <a:prstGeom prst="roundRect">
            <a:avLst>
              <a:gd name="adj" fmla="val 6000"/>
            </a:avLst>
          </a:prstGeom>
          <a:solidFill>
            <a:srgbClr val="141C33"/>
          </a:solidFill>
          <a:ln w="15875">
            <a:solidFill>
              <a:srgbClr val="33D9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3291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E9EEFB"/>
                </a:solidFill>
                <a:latin typeface="Helvetica Neue"/>
              </a:rPr>
              <a:t>ESP32-C3  ·  WiFi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6949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8A97B8"/>
                </a:solidFill>
                <a:latin typeface="Helvetica Neue"/>
              </a:rPr>
              <a:t>└─ UDP broadcast  </a:t>
            </a:r>
            <a:r>
              <a:rPr sz="1600" b="1">
                <a:solidFill>
                  <a:srgbClr val="33D980"/>
                </a:solidFill>
                <a:latin typeface="Consolas"/>
              </a:rPr>
              <a:t>"EASYPILOT:&lt;IP&gt;"</a:t>
            </a:r>
            <a:r>
              <a:rPr sz="1600" b="0">
                <a:solidFill>
                  <a:srgbClr val="8A97B8"/>
                </a:solidFill>
                <a:latin typeface="Helvetica Neue"/>
              </a:rPr>
              <a:t>  every 5 s · port 4242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8A97B8"/>
                </a:solidFill>
                <a:latin typeface="Helvetica Neue"/>
              </a:rPr>
              <a:t>     → iOS auto-discovers the IP, no typing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788920"/>
            <a:ext cx="6949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979FF"/>
                </a:solidFill>
                <a:latin typeface="Helvetica Neue"/>
              </a:rPr>
              <a:t>└─ WebSocket server · port 81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8A97B8"/>
                </a:solidFill>
                <a:latin typeface="Helvetica Neue"/>
              </a:rPr>
              <a:t>     ←→ commands out · telemetry JSON in @ 10 Hz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840480"/>
            <a:ext cx="3291840" cy="868680"/>
          </a:xfrm>
          <a:prstGeom prst="roundRect">
            <a:avLst>
              <a:gd name="adj" fmla="val 6000"/>
            </a:avLst>
          </a:prstGeom>
          <a:solidFill>
            <a:srgbClr val="141C33"/>
          </a:solidFill>
          <a:ln w="15875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840480"/>
            <a:ext cx="3291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E9EEFB"/>
                </a:solidFill>
                <a:latin typeface="Helvetica Neue"/>
              </a:rPr>
              <a:t>iPhone — EasyPilot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074920"/>
            <a:ext cx="3474720" cy="1188720"/>
          </a:xfrm>
          <a:prstGeom prst="roundRect">
            <a:avLst>
              <a:gd name="adj" fmla="val 6000"/>
            </a:avLst>
          </a:prstGeom>
          <a:solidFill>
            <a:srgbClr val="141C33"/>
          </a:solidFill>
          <a:ln w="15875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166360"/>
            <a:ext cx="347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2979FF"/>
                </a:solidFill>
                <a:latin typeface="Helvetica Ne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80644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A97B8"/>
                </a:solidFill>
                <a:latin typeface="Helvetica Neue"/>
              </a:rPr>
              <a:t>tabs: Dashboard · Simulator · Algorithms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5074920"/>
            <a:ext cx="3474720" cy="1188720"/>
          </a:xfrm>
          <a:prstGeom prst="roundRect">
            <a:avLst>
              <a:gd name="adj" fmla="val 6000"/>
            </a:avLst>
          </a:prstGeom>
          <a:solidFill>
            <a:srgbClr val="141C33"/>
          </a:solidFill>
          <a:ln w="15875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5166360"/>
            <a:ext cx="347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2979FF"/>
                </a:solidFill>
                <a:latin typeface="Helvetica Neue"/>
              </a:rPr>
              <a:t>10 Hz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580644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A97B8"/>
                </a:solidFill>
                <a:latin typeface="Helvetica Neue"/>
              </a:rPr>
              <a:t>telemetry &amp; motion update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5074920"/>
            <a:ext cx="3474720" cy="1188720"/>
          </a:xfrm>
          <a:prstGeom prst="roundRect">
            <a:avLst>
              <a:gd name="adj" fmla="val 6000"/>
            </a:avLst>
          </a:prstGeom>
          <a:solidFill>
            <a:srgbClr val="141C33"/>
          </a:solidFill>
          <a:ln w="15875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5166360"/>
            <a:ext cx="347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2979FF"/>
                </a:solidFill>
                <a:latin typeface="Helvetica Neue"/>
              </a:rPr>
              <a:t>~3,400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580644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A97B8"/>
                </a:solidFill>
                <a:latin typeface="Helvetica Neue"/>
              </a:rPr>
              <a:t>lines of Swift across 18 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979FF"/>
                </a:solidFill>
                <a:latin typeface="Helvetica Neue"/>
              </a:rP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E9EEFB"/>
                </a:solidFill>
                <a:latin typeface="Helvetica Neue"/>
              </a:rPr>
              <a:t>The iOS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141C33"/>
          </a:solidFill>
          <a:ln w="15875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w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121408"/>
            <a:ext cx="822957" cy="2537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03120" y="2121408"/>
            <a:ext cx="1965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9EEFB"/>
                </a:solidFill>
                <a:latin typeface="Helvetica Neue"/>
              </a:rPr>
              <a:t>Swift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27248"/>
            <a:ext cx="2971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7B8"/>
                </a:solidFill>
                <a:latin typeface="Helvetica Neue"/>
              </a:rPr>
              <a:t>Apple's modern, type-safe language for the whole app.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141C33"/>
          </a:solidFill>
          <a:ln w="15875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wift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121408"/>
            <a:ext cx="822960" cy="822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97880" y="2121408"/>
            <a:ext cx="1965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9EEFB"/>
                </a:solidFill>
                <a:latin typeface="Helvetica Neue"/>
              </a:rPr>
              <a:t>SwiftUI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127248"/>
            <a:ext cx="2971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7B8"/>
                </a:solidFill>
                <a:latin typeface="Helvetica Neue"/>
              </a:rPr>
              <a:t>Declarative UI — TabView, glass cards, live bindings.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82880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141C33"/>
          </a:solidFill>
          <a:ln w="15875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2121408"/>
            <a:ext cx="822960" cy="822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92640" y="2121408"/>
            <a:ext cx="1965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9EEFB"/>
                </a:solidFill>
                <a:latin typeface="Helvetica Neue"/>
              </a:rPr>
              <a:t>Network.framework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3127248"/>
            <a:ext cx="2971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7B8"/>
                </a:solidFill>
                <a:latin typeface="Helvetica Neue"/>
              </a:rPr>
              <a:t>NWListener UDP discovery + WebSocket data link.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908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141C33"/>
          </a:solidFill>
          <a:ln w="15875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cenek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361688"/>
            <a:ext cx="822960" cy="8229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103120" y="4361688"/>
            <a:ext cx="1965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9EEFB"/>
                </a:solidFill>
                <a:latin typeface="Helvetica Neue"/>
              </a:rPr>
              <a:t>SceneKit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367528"/>
            <a:ext cx="2971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7B8"/>
                </a:solidFill>
                <a:latin typeface="Helvetica Neue"/>
              </a:rPr>
              <a:t>Real-time 3D flight simulator with .usdz drone model.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406908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141C33"/>
          </a:solidFill>
          <a:ln w="15875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oremo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361688"/>
            <a:ext cx="822960" cy="8229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97880" y="4361688"/>
            <a:ext cx="1965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9EEFB"/>
                </a:solidFill>
                <a:latin typeface="Helvetica Neue"/>
              </a:rPr>
              <a:t>CoreMotion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367528"/>
            <a:ext cx="2971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7B8"/>
                </a:solidFill>
                <a:latin typeface="Helvetica Neue"/>
              </a:rPr>
              <a:t>Gyro / accelerometer read at 10 Hz for tilt control.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406908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141C33"/>
          </a:solidFill>
          <a:ln w="15875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es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1080" y="4361688"/>
            <a:ext cx="822960" cy="18516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92640" y="4361688"/>
            <a:ext cx="1965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9EEFB"/>
                </a:solidFill>
                <a:latin typeface="Helvetica Neue"/>
              </a:rPr>
              <a:t>Espressif ESP32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5367528"/>
            <a:ext cx="2971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7B8"/>
                </a:solidFill>
                <a:latin typeface="Helvetica Neue"/>
              </a:rPr>
              <a:t>On-drone firmware: WiFi, WebSocket server, beacon.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979FF"/>
                </a:solidFill>
                <a:latin typeface="Helvetica Neue"/>
              </a:rPr>
              <a:t>CODE · LIVE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E9EEFB"/>
                </a:solidFill>
                <a:latin typeface="Helvetica Neue"/>
              </a:rPr>
              <a:t>Decoding 10 Hz telemetry into the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07040" cy="3931920"/>
          </a:xfrm>
          <a:prstGeom prst="roundRect">
            <a:avLst>
              <a:gd name="adj" fmla="val 3000"/>
            </a:avLst>
          </a:prstGeom>
          <a:solidFill>
            <a:srgbClr val="0C1326"/>
          </a:solidFill>
          <a:ln w="12700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 rIns="18288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B8F"/>
                </a:solidFill>
                <a:latin typeface="Consolas"/>
              </a:rPr>
              <a:t>// Codable struct mirrors the ESP32 JSON exactly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FF7AB2"/>
                </a:solidFill>
                <a:latin typeface="Consolas"/>
              </a:rPr>
              <a:t>struct </a:t>
            </a:r>
            <a:r>
              <a:rPr sz="1450">
                <a:solidFill>
                  <a:srgbClr val="7EE0C8"/>
                </a:solidFill>
                <a:latin typeface="Consolas"/>
              </a:rPr>
              <a:t>DroneTelemetry</a:t>
            </a:r>
            <a:r>
              <a:rPr sz="1450">
                <a:solidFill>
                  <a:srgbClr val="E9EEFB"/>
                </a:solidFill>
                <a:latin typeface="Consolas"/>
              </a:rPr>
              <a:t>: </a:t>
            </a:r>
            <a:r>
              <a:rPr sz="1450">
                <a:solidFill>
                  <a:srgbClr val="7EE0C8"/>
                </a:solidFill>
                <a:latin typeface="Consolas"/>
              </a:rPr>
              <a:t>Codable</a:t>
            </a:r>
            <a:r>
              <a:rPr sz="1450">
                <a:solidFill>
                  <a:srgbClr val="E9EEFB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FF7AB2"/>
                </a:solidFill>
                <a:latin typeface="Consolas"/>
              </a:rPr>
              <a:t>    let</a:t>
            </a:r>
            <a:r>
              <a:rPr sz="1450">
                <a:solidFill>
                  <a:srgbClr val="E9EEFB"/>
                </a:solidFill>
                <a:latin typeface="Consolas"/>
              </a:rPr>
              <a:t> roll, pitch, yaw: </a:t>
            </a:r>
            <a:r>
              <a:rPr sz="1450">
                <a:solidFill>
                  <a:srgbClr val="7EE0C8"/>
                </a:solidFill>
                <a:latin typeface="Consolas"/>
              </a:rPr>
              <a:t>Float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FF7AB2"/>
                </a:solidFill>
                <a:latin typeface="Consolas"/>
              </a:rPr>
              <a:t>    let</a:t>
            </a:r>
            <a:r>
              <a:rPr sz="1450">
                <a:solidFill>
                  <a:srgbClr val="E9EEFB"/>
                </a:solidFill>
                <a:latin typeface="Consolas"/>
              </a:rPr>
              <a:t> m1, m2, m3, m4: </a:t>
            </a:r>
            <a:r>
              <a:rPr sz="1450">
                <a:solidFill>
                  <a:srgbClr val="7EE0C8"/>
                </a:solidFill>
                <a:latin typeface="Consolas"/>
              </a:rPr>
              <a:t>Int</a:t>
            </a:r>
            <a:r>
              <a:rPr sz="1450">
                <a:solidFill>
                  <a:srgbClr val="E9EEFB"/>
                </a:solidFill>
                <a:latin typeface="Consolas"/>
              </a:rPr>
              <a:t>?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FF7AB2"/>
                </a:solidFill>
                <a:latin typeface="Consolas"/>
              </a:rPr>
              <a:t>    let</a:t>
            </a:r>
            <a:r>
              <a:rPr sz="1450">
                <a:solidFill>
                  <a:srgbClr val="E9EEFB"/>
                </a:solidFill>
                <a:latin typeface="Consolas"/>
              </a:rPr>
              <a:t> voltage: </a:t>
            </a:r>
            <a:r>
              <a:rPr sz="1450">
                <a:solidFill>
                  <a:srgbClr val="7EE0C8"/>
                </a:solidFill>
                <a:latin typeface="Consolas"/>
              </a:rPr>
              <a:t>Float</a:t>
            </a:r>
            <a:r>
              <a:rPr sz="1450">
                <a:solidFill>
                  <a:srgbClr val="E9EEFB"/>
                </a:solidFill>
                <a:latin typeface="Consolas"/>
              </a:rPr>
              <a:t>?, armed: </a:t>
            </a:r>
            <a:r>
              <a:rPr sz="1450">
                <a:solidFill>
                  <a:srgbClr val="7EE0C8"/>
                </a:solidFill>
                <a:latin typeface="Consolas"/>
              </a:rPr>
              <a:t>Bool</a:t>
            </a:r>
            <a:r>
              <a:rPr sz="1450">
                <a:solidFill>
                  <a:srgbClr val="E9EEFB"/>
                </a:solidFill>
                <a:latin typeface="Consolas"/>
              </a:rPr>
              <a:t>?, mode: </a:t>
            </a:r>
            <a:r>
              <a:rPr sz="1450">
                <a:solidFill>
                  <a:srgbClr val="7EE0C8"/>
                </a:solidFill>
                <a:latin typeface="Consolas"/>
              </a:rPr>
              <a:t>String</a:t>
            </a:r>
            <a:r>
              <a:rPr sz="1450">
                <a:solidFill>
                  <a:srgbClr val="E9EEFB"/>
                </a:solidFill>
                <a:latin typeface="Consolas"/>
              </a:rPr>
              <a:t>?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E9EEFB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E9EEFB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FF7AB2"/>
                </a:solidFill>
                <a:latin typeface="Consolas"/>
              </a:rPr>
              <a:t>private func </a:t>
            </a:r>
            <a:r>
              <a:rPr sz="1450">
                <a:solidFill>
                  <a:srgbClr val="82AAFF"/>
                </a:solidFill>
                <a:latin typeface="Consolas"/>
              </a:rPr>
              <a:t>decodeJSON</a:t>
            </a:r>
            <a:r>
              <a:rPr sz="1450">
                <a:solidFill>
                  <a:srgbClr val="E9EEFB"/>
                </a:solidFill>
                <a:latin typeface="Consolas"/>
              </a:rPr>
              <a:t>(_ text: </a:t>
            </a:r>
            <a:r>
              <a:rPr sz="1450">
                <a:solidFill>
                  <a:srgbClr val="7EE0C8"/>
                </a:solidFill>
                <a:latin typeface="Consolas"/>
              </a:rPr>
              <a:t>String</a:t>
            </a:r>
            <a:r>
              <a:rPr sz="1450">
                <a:solidFill>
                  <a:srgbClr val="E9EEFB"/>
                </a:solidFill>
                <a:latin typeface="Consolas"/>
              </a:rPr>
              <a:t>)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FF7AB2"/>
                </a:solidFill>
                <a:latin typeface="Consolas"/>
              </a:rPr>
              <a:t>    let</a:t>
            </a:r>
            <a:r>
              <a:rPr sz="1450">
                <a:solidFill>
                  <a:srgbClr val="E9EEFB"/>
                </a:solidFill>
                <a:latin typeface="Consolas"/>
              </a:rPr>
              <a:t> decoded = </a:t>
            </a:r>
            <a:r>
              <a:rPr sz="1450">
                <a:solidFill>
                  <a:srgbClr val="FF7AB2"/>
                </a:solidFill>
                <a:latin typeface="Consolas"/>
              </a:rPr>
              <a:t>try</a:t>
            </a:r>
            <a:r>
              <a:rPr sz="1450">
                <a:solidFill>
                  <a:srgbClr val="E9EEFB"/>
                </a:solidFill>
                <a:latin typeface="Consolas"/>
              </a:rPr>
              <a:t> </a:t>
            </a:r>
            <a:r>
              <a:rPr sz="1450">
                <a:solidFill>
                  <a:srgbClr val="7EE0C8"/>
                </a:solidFill>
                <a:latin typeface="Consolas"/>
              </a:rPr>
              <a:t>JSONDecoder</a:t>
            </a:r>
            <a:r>
              <a:rPr sz="1450">
                <a:solidFill>
                  <a:srgbClr val="E9EEFB"/>
                </a:solidFill>
                <a:latin typeface="Consolas"/>
              </a:rPr>
              <a:t>().</a:t>
            </a:r>
            <a:r>
              <a:rPr sz="1450">
                <a:solidFill>
                  <a:srgbClr val="82AAFF"/>
                </a:solidFill>
                <a:latin typeface="Consolas"/>
              </a:rPr>
              <a:t>decode</a:t>
            </a:r>
            <a:r>
              <a:rPr sz="1450">
                <a:solidFill>
                  <a:srgbClr val="E9EEFB"/>
                </a:solidFill>
                <a:latin typeface="Consolas"/>
              </a:rPr>
              <a:t>(</a:t>
            </a:r>
            <a:r>
              <a:rPr sz="1450">
                <a:solidFill>
                  <a:srgbClr val="7EE0C8"/>
                </a:solidFill>
                <a:latin typeface="Consolas"/>
              </a:rPr>
              <a:t>DroneTelemetry</a:t>
            </a:r>
            <a:r>
              <a:rPr sz="1450">
                <a:solidFill>
                  <a:srgbClr val="E9EEFB"/>
                </a:solidFill>
                <a:latin typeface="Consolas"/>
              </a:rPr>
              <a:t>.self, ...)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E9EEFB"/>
                </a:solidFill>
                <a:latin typeface="Consolas"/>
              </a:rPr>
              <a:t>    </a:t>
            </a:r>
            <a:r>
              <a:rPr sz="1450">
                <a:solidFill>
                  <a:srgbClr val="7EE0C8"/>
                </a:solidFill>
                <a:latin typeface="Consolas"/>
              </a:rPr>
              <a:t>DispatchQueue</a:t>
            </a:r>
            <a:r>
              <a:rPr sz="1450">
                <a:solidFill>
                  <a:srgbClr val="E9EEFB"/>
                </a:solidFill>
                <a:latin typeface="Consolas"/>
              </a:rPr>
              <a:t>.main.</a:t>
            </a:r>
            <a:r>
              <a:rPr sz="1450">
                <a:solidFill>
                  <a:srgbClr val="82AAFF"/>
                </a:solidFill>
                <a:latin typeface="Consolas"/>
              </a:rPr>
              <a:t>async</a:t>
            </a:r>
            <a:r>
              <a:rPr sz="1450">
                <a:solidFill>
                  <a:srgbClr val="E9EEFB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FF7AB2"/>
                </a:solidFill>
                <a:latin typeface="Consolas"/>
              </a:rPr>
              <a:t>        self</a:t>
            </a:r>
            <a:r>
              <a:rPr sz="1450">
                <a:solidFill>
                  <a:srgbClr val="E9EEFB"/>
                </a:solidFill>
                <a:latin typeface="Consolas"/>
              </a:rPr>
              <a:t>.telemetry   = decoded   </a:t>
            </a:r>
            <a:r>
              <a:rPr sz="1450">
                <a:solidFill>
                  <a:srgbClr val="5D6B8F"/>
                </a:solidFill>
                <a:latin typeface="Consolas"/>
              </a:rPr>
              <a:t>// @Published → SwiftUI redraws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FF7AB2"/>
                </a:solidFill>
                <a:latin typeface="Consolas"/>
              </a:rPr>
              <a:t>        self</a:t>
            </a:r>
            <a:r>
              <a:rPr sz="1450">
                <a:solidFill>
                  <a:srgbClr val="E9EEFB"/>
                </a:solidFill>
                <a:latin typeface="Consolas"/>
              </a:rPr>
              <a:t>.isConnected = </a:t>
            </a:r>
            <a:r>
              <a:rPr sz="1450">
                <a:solidFill>
                  <a:srgbClr val="FF7AB2"/>
                </a:solidFill>
                <a:latin typeface="Consolas"/>
              </a:rPr>
              <a:t>true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E9EEFB"/>
                </a:solidFill>
                <a:latin typeface="Consolas"/>
              </a:rPr>
              <a:t>    }</a:t>
            </a:r>
            <a:r>
              <a:rPr sz="1450">
                <a:solidFill>
                  <a:srgbClr val="E9EEFB"/>
                </a:solidFill>
                <a:latin typeface="Consolas"/>
              </a:rPr>
              <a:t>
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979FF"/>
                </a:solidFill>
                <a:latin typeface="Helvetica Neue"/>
              </a:rPr>
              <a:t>CODE · SENSORS &amp;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E9EEFB"/>
                </a:solidFill>
                <a:latin typeface="Helvetica Neue"/>
              </a:rPr>
              <a:t>Phone tilt → drone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07040" cy="3931920"/>
          </a:xfrm>
          <a:prstGeom prst="roundRect">
            <a:avLst>
              <a:gd name="adj" fmla="val 3000"/>
            </a:avLst>
          </a:prstGeom>
          <a:solidFill>
            <a:srgbClr val="0C1326"/>
          </a:solidFill>
          <a:ln w="12700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 rIns="18288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B8F"/>
                </a:solidFill>
                <a:latin typeface="Consolas"/>
              </a:rPr>
              <a:t>// CoreMotion device-motion updates @ 10 Hz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E9EEFB"/>
                </a:solidFill>
                <a:latin typeface="Consolas"/>
              </a:rPr>
              <a:t>motionManager.</a:t>
            </a:r>
            <a:r>
              <a:rPr sz="1450">
                <a:solidFill>
                  <a:srgbClr val="82AAFF"/>
                </a:solidFill>
                <a:latin typeface="Consolas"/>
              </a:rPr>
              <a:t>startDeviceMotionUpdates</a:t>
            </a:r>
            <a:r>
              <a:rPr sz="1450">
                <a:solidFill>
                  <a:srgbClr val="E9EEFB"/>
                </a:solidFill>
                <a:latin typeface="Consolas"/>
              </a:rPr>
              <a:t>(to: .main) { data, _ </a:t>
            </a:r>
            <a:r>
              <a:rPr sz="1450">
                <a:solidFill>
                  <a:srgbClr val="FF7AB2"/>
                </a:solidFill>
                <a:latin typeface="Consolas"/>
              </a:rPr>
              <a:t>in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FF7AB2"/>
                </a:solidFill>
                <a:latin typeface="Consolas"/>
              </a:rPr>
              <a:t>    let</a:t>
            </a:r>
            <a:r>
              <a:rPr sz="1450">
                <a:solidFill>
                  <a:srgbClr val="E9EEFB"/>
                </a:solidFill>
                <a:latin typeface="Consolas"/>
              </a:rPr>
              <a:t> r = </a:t>
            </a:r>
            <a:r>
              <a:rPr sz="1450">
                <a:solidFill>
                  <a:srgbClr val="F7C873"/>
                </a:solidFill>
                <a:latin typeface="Consolas"/>
              </a:rPr>
              <a:t>180</a:t>
            </a:r>
            <a:r>
              <a:rPr sz="1450">
                <a:solidFill>
                  <a:srgbClr val="E9EEFB"/>
                </a:solidFill>
                <a:latin typeface="Consolas"/>
              </a:rPr>
              <a:t> / .pi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FF7AB2"/>
                </a:solidFill>
                <a:latin typeface="Consolas"/>
              </a:rPr>
              <a:t>    self</a:t>
            </a:r>
            <a:r>
              <a:rPr sz="1450">
                <a:solidFill>
                  <a:srgbClr val="E9EEFB"/>
                </a:solidFill>
                <a:latin typeface="Consolas"/>
              </a:rPr>
              <a:t>.pitch = data.attitude.pitch * r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FF7AB2"/>
                </a:solidFill>
                <a:latin typeface="Consolas"/>
              </a:rPr>
              <a:t>    self</a:t>
            </a:r>
            <a:r>
              <a:rPr sz="1450">
                <a:solidFill>
                  <a:srgbClr val="E9EEFB"/>
                </a:solidFill>
                <a:latin typeface="Consolas"/>
              </a:rPr>
              <a:t>.roll  = data.attitude.roll  * r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E9EEFB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E9EEFB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B8F"/>
                </a:solidFill>
                <a:latin typeface="Consolas"/>
              </a:rPr>
              <a:t>// Type-safe JSON command builder (ControlProfile)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FF7AB2"/>
                </a:solidFill>
                <a:latin typeface="Consolas"/>
              </a:rPr>
              <a:t>func </a:t>
            </a:r>
            <a:r>
              <a:rPr sz="1450">
                <a:solidFill>
                  <a:srgbClr val="82AAFF"/>
                </a:solidFill>
                <a:latin typeface="Consolas"/>
              </a:rPr>
              <a:t>startBalanceCommand</a:t>
            </a:r>
            <a:r>
              <a:rPr sz="1450">
                <a:solidFill>
                  <a:srgbClr val="E9EEFB"/>
                </a:solidFill>
                <a:latin typeface="Consolas"/>
              </a:rPr>
              <a:t>() -&gt; </a:t>
            </a:r>
            <a:r>
              <a:rPr sz="1450">
                <a:solidFill>
                  <a:srgbClr val="7EE0C8"/>
                </a:solidFill>
                <a:latin typeface="Consolas"/>
              </a:rPr>
              <a:t>String</a:t>
            </a:r>
            <a:r>
              <a:rPr sz="1450">
                <a:solidFill>
                  <a:srgbClr val="E9EEFB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E9EEFB"/>
                </a:solidFill>
                <a:latin typeface="Consolas"/>
              </a:rPr>
              <a:t>    </a:t>
            </a:r>
            <a:r>
              <a:rPr sz="1450">
                <a:solidFill>
                  <a:srgbClr val="C3E88D"/>
                </a:solidFill>
                <a:latin typeface="Consolas"/>
              </a:rPr>
              <a:t>"""{"cmd":"START_BALANCE","baseThrottle":\(baseThrottle),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C3E88D"/>
                </a:solidFill>
                <a:latin typeface="Consolas"/>
              </a:rPr>
              <a:t>       "kPRoll":\(kPRoll),"kPPitch":\(kPPitch)}"""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E9EEFB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979FF"/>
                </a:solidFill>
                <a:latin typeface="Helvetica Neue"/>
              </a:rPr>
              <a:t>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E9EEFB"/>
                </a:solidFill>
                <a:latin typeface="Helvetica Neue"/>
              </a:rPr>
              <a:t>What was hard — and how we solved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141C33"/>
          </a:solidFill>
          <a:ln w="15875">
            <a:solidFill>
              <a:srgbClr val="33D9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33D980"/>
                </a:solidFill>
                <a:latin typeface="Helvetica Neue"/>
              </a:rPr>
              <a:t>Finding the drone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4709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8A97B8"/>
                </a:solidFill>
                <a:latin typeface="Helvetica Neue"/>
              </a:rPr>
              <a:t>The ESP32 gets a random DHCP IP. A UDP beacon broadcasts the IP every 5 s, so the app auto-connects — no typing.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141C33"/>
          </a:solidFill>
          <a:ln w="15875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103120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2979FF"/>
                </a:solidFill>
                <a:latin typeface="Helvetica Neue"/>
              </a:rPr>
              <a:t>Detecting a dropped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697480"/>
            <a:ext cx="4709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8A97B8"/>
                </a:solidFill>
                <a:latin typeface="Helvetica Neue"/>
              </a:rPr>
              <a:t>WiFi can die silently. A 3 s timeout timer + 5 s WebSocket pings flip isConnected false the instant data stops.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977639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141C33"/>
          </a:solidFill>
          <a:ln w="15875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251959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FF9900"/>
                </a:solidFill>
                <a:latin typeface="Helvetica Neue"/>
              </a:rPr>
              <a:t>Thread 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46319"/>
            <a:ext cx="4709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8A97B8"/>
                </a:solidFill>
                <a:latin typeface="Helvetica Neue"/>
              </a:rPr>
              <a:t>SceneKit physics runs on the render thread, SwiftUI only on main. Physics writes _vars, synced to @Published at 20 Hz.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977639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141C33"/>
          </a:solidFill>
          <a:ln w="15875">
            <a:solidFill>
              <a:srgbClr val="FF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4251959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FF4545"/>
                </a:solidFill>
                <a:latin typeface="Helvetica Neue"/>
              </a:rPr>
              <a:t>Flight safety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846319"/>
            <a:ext cx="4709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8A97B8"/>
                </a:solidFill>
                <a:latin typeface="Helvetica Neue"/>
              </a:rPr>
              <a:t>Accidental motor spin is dangerous. 1.5 s hold-to-arm, debounced safe-test, and a tilt-over-60° emergency stop.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979FF"/>
                </a:solidFill>
                <a:latin typeface="Helvetica Neue"/>
              </a:rPr>
              <a:t>CODE · THE THREADING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E9EEFB"/>
                </a:solidFill>
                <a:latin typeface="Helvetica Neue"/>
              </a:rPr>
              <a:t>Two threads, one drone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8A97B8"/>
                </a:solidFill>
                <a:latin typeface="Helvetica Neue"/>
              </a:rPr>
              <a:t>Physics on SceneKit's render thread must never touch SwiftUI directly — so internal state is kept separate from published state.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23160"/>
            <a:ext cx="10607040" cy="3931920"/>
          </a:xfrm>
          <a:prstGeom prst="roundRect">
            <a:avLst>
              <a:gd name="adj" fmla="val 3000"/>
            </a:avLst>
          </a:prstGeom>
          <a:solidFill>
            <a:srgbClr val="0C1326"/>
          </a:solidFill>
          <a:ln w="12700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 rIns="18288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FF7AB2"/>
                </a:solidFill>
                <a:latin typeface="Consolas"/>
              </a:rPr>
              <a:t>class </a:t>
            </a:r>
            <a:r>
              <a:rPr sz="1450">
                <a:solidFill>
                  <a:srgbClr val="7EE0C8"/>
                </a:solidFill>
                <a:latin typeface="Consolas"/>
              </a:rPr>
              <a:t>DroneSimulator</a:t>
            </a:r>
            <a:r>
              <a:rPr sz="1450">
                <a:solidFill>
                  <a:srgbClr val="E9EEFB"/>
                </a:solidFill>
                <a:latin typeface="Consolas"/>
              </a:rPr>
              <a:t>: </a:t>
            </a:r>
            <a:r>
              <a:rPr sz="1450">
                <a:solidFill>
                  <a:srgbClr val="7EE0C8"/>
                </a:solidFill>
                <a:latin typeface="Consolas"/>
              </a:rPr>
              <a:t>ObservableObject</a:t>
            </a:r>
            <a:r>
              <a:rPr sz="1450">
                <a:solidFill>
                  <a:srgbClr val="E9EEFB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B8F"/>
                </a:solidFill>
                <a:latin typeface="Consolas"/>
              </a:rPr>
              <a:t>    // Main thread only — drives SwiftUI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E9EEFB"/>
                </a:solidFill>
                <a:latin typeface="Consolas"/>
              </a:rPr>
              <a:t>    @</a:t>
            </a:r>
            <a:r>
              <a:rPr sz="1450">
                <a:solidFill>
                  <a:srgbClr val="7EE0C8"/>
                </a:solidFill>
                <a:latin typeface="Consolas"/>
              </a:rPr>
              <a:t>Published</a:t>
            </a:r>
            <a:r>
              <a:rPr sz="1450">
                <a:solidFill>
                  <a:srgbClr val="FF7AB2"/>
                </a:solidFill>
                <a:latin typeface="Consolas"/>
              </a:rPr>
              <a:t> var</a:t>
            </a:r>
            <a:r>
              <a:rPr sz="1450">
                <a:solidFill>
                  <a:srgbClr val="E9EEFB"/>
                </a:solidFill>
                <a:latin typeface="Consolas"/>
              </a:rPr>
              <a:t> simRoll = </a:t>
            </a:r>
            <a:r>
              <a:rPr sz="1450">
                <a:solidFill>
                  <a:srgbClr val="F7C873"/>
                </a:solidFill>
                <a:latin typeface="Consolas"/>
              </a:rPr>
              <a:t>0.0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E9EEFB"/>
                </a:solidFill>
                <a:latin typeface="Consolas"/>
              </a:rPr>
              <a:t>    @</a:t>
            </a:r>
            <a:r>
              <a:rPr sz="1450">
                <a:solidFill>
                  <a:srgbClr val="7EE0C8"/>
                </a:solidFill>
                <a:latin typeface="Consolas"/>
              </a:rPr>
              <a:t>Published</a:t>
            </a:r>
            <a:r>
              <a:rPr sz="1450">
                <a:solidFill>
                  <a:srgbClr val="FF7AB2"/>
                </a:solidFill>
                <a:latin typeface="Consolas"/>
              </a:rPr>
              <a:t> var</a:t>
            </a:r>
            <a:r>
              <a:rPr sz="1450">
                <a:solidFill>
                  <a:srgbClr val="E9EEFB"/>
                </a:solidFill>
                <a:latin typeface="Consolas"/>
              </a:rPr>
              <a:t> isCrashed = </a:t>
            </a:r>
            <a:r>
              <a:rPr sz="1450">
                <a:solidFill>
                  <a:srgbClr val="FF7AB2"/>
                </a:solidFill>
                <a:latin typeface="Consolas"/>
              </a:rPr>
              <a:t>false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E9EEFB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B8F"/>
                </a:solidFill>
                <a:latin typeface="Consolas"/>
              </a:rPr>
              <a:t>    // Render thread only — raw physics integration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FF7AB2"/>
                </a:solidFill>
                <a:latin typeface="Consolas"/>
              </a:rPr>
              <a:t>    var</a:t>
            </a:r>
            <a:r>
              <a:rPr sz="1450">
                <a:solidFill>
                  <a:srgbClr val="E9EEFB"/>
                </a:solidFill>
                <a:latin typeface="Consolas"/>
              </a:rPr>
              <a:t> _roll = </a:t>
            </a:r>
            <a:r>
              <a:rPr sz="1450">
                <a:solidFill>
                  <a:srgbClr val="F7C873"/>
                </a:solidFill>
                <a:latin typeface="Consolas"/>
              </a:rPr>
              <a:t>0.0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FF7AB2"/>
                </a:solidFill>
                <a:latin typeface="Consolas"/>
              </a:rPr>
              <a:t>    var</a:t>
            </a:r>
            <a:r>
              <a:rPr sz="1450">
                <a:solidFill>
                  <a:srgbClr val="E9EEFB"/>
                </a:solidFill>
                <a:latin typeface="Consolas"/>
              </a:rPr>
              <a:t> _vel: </a:t>
            </a:r>
            <a:r>
              <a:rPr sz="1450">
                <a:solidFill>
                  <a:srgbClr val="7EE0C8"/>
                </a:solidFill>
                <a:latin typeface="Consolas"/>
              </a:rPr>
              <a:t>SIMD3</a:t>
            </a:r>
            <a:r>
              <a:rPr sz="1450">
                <a:solidFill>
                  <a:srgbClr val="E9EEFB"/>
                </a:solidFill>
                <a:latin typeface="Consolas"/>
              </a:rPr>
              <a:t>&lt;</a:t>
            </a:r>
            <a:r>
              <a:rPr sz="1450">
                <a:solidFill>
                  <a:srgbClr val="7EE0C8"/>
                </a:solidFill>
                <a:latin typeface="Consolas"/>
              </a:rPr>
              <a:t>Float</a:t>
            </a:r>
            <a:r>
              <a:rPr sz="1450">
                <a:solidFill>
                  <a:srgbClr val="E9EEFB"/>
                </a:solidFill>
                <a:latin typeface="Consolas"/>
              </a:rPr>
              <a:t>&gt; = .zero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E9EEFB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FF7AB2"/>
                </a:solidFill>
                <a:latin typeface="Consolas"/>
              </a:rPr>
              <a:t>    func </a:t>
            </a:r>
            <a:r>
              <a:rPr sz="1450">
                <a:solidFill>
                  <a:srgbClr val="82AAFF"/>
                </a:solidFill>
                <a:latin typeface="Consolas"/>
              </a:rPr>
              <a:t>tick</a:t>
            </a:r>
            <a:r>
              <a:rPr sz="1450">
                <a:solidFill>
                  <a:srgbClr val="E9EEFB"/>
                </a:solidFill>
                <a:latin typeface="Consolas"/>
              </a:rPr>
              <a:t>(dt: </a:t>
            </a:r>
            <a:r>
              <a:rPr sz="1450">
                <a:solidFill>
                  <a:srgbClr val="7EE0C8"/>
                </a:solidFill>
                <a:latin typeface="Consolas"/>
              </a:rPr>
              <a:t>Double</a:t>
            </a:r>
            <a:r>
              <a:rPr sz="1450">
                <a:solidFill>
                  <a:srgbClr val="E9EEFB"/>
                </a:solidFill>
                <a:latin typeface="Consolas"/>
              </a:rPr>
              <a:t>) { </a:t>
            </a:r>
            <a:r>
              <a:rPr sz="1450">
                <a:solidFill>
                  <a:srgbClr val="5D6B8F"/>
                </a:solidFill>
                <a:latin typeface="Consolas"/>
              </a:rPr>
              <a:t>/* render thread: physics */</a:t>
            </a:r>
            <a:r>
              <a:rPr sz="1450">
                <a:solidFill>
                  <a:srgbClr val="E9EEFB"/>
                </a:solidFill>
                <a:latin typeface="Consolas"/>
              </a:rPr>
              <a:t>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FF7AB2"/>
                </a:solidFill>
                <a:latin typeface="Consolas"/>
              </a:rPr>
              <a:t>    func </a:t>
            </a:r>
            <a:r>
              <a:rPr sz="1450">
                <a:solidFill>
                  <a:srgbClr val="82AAFF"/>
                </a:solidFill>
                <a:latin typeface="Consolas"/>
              </a:rPr>
              <a:t>syncPublished</a:t>
            </a:r>
            <a:r>
              <a:rPr sz="1450">
                <a:solidFill>
                  <a:srgbClr val="E9EEFB"/>
                </a:solidFill>
                <a:latin typeface="Consolas"/>
              </a:rPr>
              <a:t>() { </a:t>
            </a:r>
            <a:r>
              <a:rPr sz="1450">
                <a:solidFill>
                  <a:srgbClr val="5D6B8F"/>
                </a:solidFill>
                <a:latin typeface="Consolas"/>
              </a:rPr>
              <a:t>/* main: _vars → @Published */</a:t>
            </a:r>
            <a:r>
              <a:rPr sz="1450">
                <a:solidFill>
                  <a:srgbClr val="E9EEFB"/>
                </a:solidFill>
                <a:latin typeface="Consolas"/>
              </a:rPr>
              <a:t>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E9EEFB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979FF"/>
                </a:solidFill>
                <a:latin typeface="Helvetica Neue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E9EEFB"/>
                </a:solidFill>
                <a:latin typeface="Helvetica Neue"/>
              </a:rPr>
              <a:t>Where we are &amp; what's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349240" cy="3200400"/>
          </a:xfrm>
          <a:prstGeom prst="roundRect">
            <a:avLst>
              <a:gd name="adj" fmla="val 6000"/>
            </a:avLst>
          </a:prstGeom>
          <a:solidFill>
            <a:srgbClr val="141C33"/>
          </a:solidFill>
          <a:ln w="15875">
            <a:solidFill>
              <a:srgbClr val="33D9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33D980"/>
                </a:solidFill>
                <a:latin typeface="Helvetica Neue"/>
              </a:rPr>
              <a:t>✓ 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34640"/>
            <a:ext cx="47548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E9EEFB"/>
                </a:solidFill>
                <a:latin typeface="Helvetica Neue"/>
              </a:rPr>
              <a:t>•  Auto-discovery + WebSocket telemetry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E9EEFB"/>
                </a:solidFill>
                <a:latin typeface="Helvetica Neue"/>
              </a:rPr>
              <a:t>•  Live Dashboard with 3D drone view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E9EEFB"/>
                </a:solidFill>
                <a:latin typeface="Helvetica Neue"/>
              </a:rPr>
              <a:t>•  Full 3D flight Simulator (Rate / Balance / PosHold)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E9EEFB"/>
                </a:solidFill>
                <a:latin typeface="Helvetica Neue"/>
              </a:rPr>
              <a:t>•  Mode 2 virtual joysticks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E9EEFB"/>
                </a:solidFill>
                <a:latin typeface="Helvetica Neue"/>
              </a:rPr>
              <a:t>•  Tunable, savable control profiles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4983480" cy="3200400"/>
          </a:xfrm>
          <a:prstGeom prst="roundRect">
            <a:avLst>
              <a:gd name="adj" fmla="val 6000"/>
            </a:avLst>
          </a:prstGeom>
          <a:solidFill>
            <a:srgbClr val="141C33"/>
          </a:solidFill>
          <a:ln w="15875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05740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9900"/>
                </a:solidFill>
                <a:latin typeface="Helvetica Neue"/>
              </a:rPr>
              <a:t>→  Next (Sprint 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834640"/>
            <a:ext cx="43891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E9EEFB"/>
                </a:solidFill>
                <a:latin typeface="Helvetica Neue"/>
              </a:rPr>
              <a:t>•  Live mode — fly the real drone from the joysticks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E9EEFB"/>
                </a:solidFill>
                <a:latin typeface="Helvetica Neue"/>
              </a:rPr>
              <a:t>•  Real MSP telemetry from the Betaflight FC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E9EEFB"/>
                </a:solidFill>
                <a:latin typeface="Helvetica Neue"/>
              </a:rPr>
              <a:t>•  Landscape UI polish &amp; touch-aware stabilization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5216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A97B8"/>
                </a:solidFill>
                <a:latin typeface="Helvetica Neue"/>
              </a:rPr>
              <a:t>EasyPilot · 4AHITM HTL · iOS subsystem overview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