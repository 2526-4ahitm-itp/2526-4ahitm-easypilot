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97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EASYPILOT · 4AHITM DRONE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Technologie-Überblick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8A97B8"/>
                </a:solidFill>
                <a:latin typeface="Helvetica Neue"/>
              </a:rPr>
              <a:t>Eine Folie pro Technologie: ein minimales Code-Beispiel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8A97B8"/>
                </a:solidFill>
                <a:latin typeface="Helvetica Neue"/>
              </a:rPr>
              <a:t>plus die wichtigsten Eigenschaften in Stichworten.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3D980"/>
                </a:solidFill>
                <a:latin typeface="Helvetica Neue"/>
              </a:rPr>
              <a:t>Ohne Swift und ohne den 10 Hz Communicator.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TECHNOLOGY DEEP-DIVE</a:t>
            </a:r>
          </a:p>
        </p:txBody>
      </p:sp>
      <p:pic>
        <p:nvPicPr>
          <p:cNvPr id="4" name="Picture 3" descr="swift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412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868680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9EEFB"/>
                </a:solidFill>
                <a:latin typeface="Helvetica Neue"/>
              </a:rPr>
              <a:t>SwiftUI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41732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7B8"/>
                </a:solidFill>
                <a:latin typeface="Helvetica Neue"/>
              </a:rPr>
              <a:t>Declaratives UI-Framework von Apple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struct </a:t>
            </a:r>
            <a:r>
              <a:rPr sz="1350">
                <a:solidFill>
                  <a:srgbClr val="7EE0C8"/>
                </a:solidFill>
                <a:latin typeface="Consolas"/>
              </a:rPr>
              <a:t>GreetingView</a:t>
            </a:r>
            <a:r>
              <a:rPr sz="1350">
                <a:solidFill>
                  <a:srgbClr val="E9EEFB"/>
                </a:solidFill>
                <a:latin typeface="Consolas"/>
              </a:rPr>
              <a:t>: </a:t>
            </a:r>
            <a:r>
              <a:rPr sz="1350">
                <a:solidFill>
                  <a:srgbClr val="7EE0C8"/>
                </a:solidFill>
                <a:latin typeface="Consolas"/>
              </a:rPr>
              <a:t>View</a:t>
            </a:r>
            <a:r>
              <a:rPr sz="1350">
                <a:solidFill>
                  <a:srgbClr val="E9EEFB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    @</a:t>
            </a:r>
            <a:r>
              <a:rPr sz="1350">
                <a:solidFill>
                  <a:srgbClr val="7EE0C8"/>
                </a:solidFill>
                <a:latin typeface="Consolas"/>
              </a:rPr>
              <a:t>State</a:t>
            </a:r>
            <a:r>
              <a:rPr sz="1350">
                <a:solidFill>
                  <a:srgbClr val="FF7AB2"/>
                </a:solidFill>
                <a:latin typeface="Consolas"/>
              </a:rPr>
              <a:t> var</a:t>
            </a:r>
            <a:r>
              <a:rPr sz="1350">
                <a:solidFill>
                  <a:srgbClr val="E9EEFB"/>
                </a:solidFill>
                <a:latin typeface="Consolas"/>
              </a:rPr>
              <a:t> name = </a:t>
            </a:r>
            <a:r>
              <a:rPr sz="1350">
                <a:solidFill>
                  <a:srgbClr val="C3E88D"/>
                </a:solidFill>
                <a:latin typeface="Consolas"/>
              </a:rPr>
              <a:t>"World"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    var</a:t>
            </a:r>
            <a:r>
              <a:rPr sz="1350">
                <a:solidFill>
                  <a:srgbClr val="E9EEFB"/>
                </a:solidFill>
                <a:latin typeface="Consolas"/>
              </a:rPr>
              <a:t> body: some </a:t>
            </a:r>
            <a:r>
              <a:rPr sz="1350">
                <a:solidFill>
                  <a:srgbClr val="7EE0C8"/>
                </a:solidFill>
                <a:latin typeface="Consolas"/>
              </a:rPr>
              <a:t>View</a:t>
            </a:r>
            <a:r>
              <a:rPr sz="1350">
                <a:solidFill>
                  <a:srgbClr val="E9EEFB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7EE0C8"/>
                </a:solidFill>
                <a:latin typeface="Consolas"/>
              </a:rPr>
              <a:t>        VStack</a:t>
            </a:r>
            <a:r>
              <a:rPr sz="1350">
                <a:solidFill>
                  <a:srgbClr val="E9EEFB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7EE0C8"/>
                </a:solidFill>
                <a:latin typeface="Consolas"/>
              </a:rPr>
              <a:t>            Text</a:t>
            </a:r>
            <a:r>
              <a:rPr sz="1350">
                <a:solidFill>
                  <a:srgbClr val="C3E88D"/>
                </a:solidFill>
                <a:latin typeface="Consolas"/>
              </a:rPr>
              <a:t>("Hello, \(name)!"</a:t>
            </a:r>
            <a:r>
              <a:rPr sz="1350">
                <a:solidFill>
                  <a:srgbClr val="E9EEF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7EE0C8"/>
                </a:solidFill>
                <a:latin typeface="Consolas"/>
              </a:rPr>
              <a:t>            Button</a:t>
            </a:r>
            <a:r>
              <a:rPr sz="1350">
                <a:solidFill>
                  <a:srgbClr val="E9EEFB"/>
                </a:solidFill>
                <a:latin typeface="Consolas"/>
              </a:rPr>
              <a:t>(</a:t>
            </a:r>
            <a:r>
              <a:rPr sz="1350">
                <a:solidFill>
                  <a:srgbClr val="C3E88D"/>
                </a:solidFill>
                <a:latin typeface="Consolas"/>
              </a:rPr>
              <a:t>"Tap me"</a:t>
            </a:r>
            <a:r>
              <a:rPr sz="1350">
                <a:solidFill>
                  <a:srgbClr val="E9EEFB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                name = </a:t>
            </a:r>
            <a:r>
              <a:rPr sz="1350">
                <a:solidFill>
                  <a:srgbClr val="C3E88D"/>
                </a:solidFill>
                <a:latin typeface="Consolas"/>
              </a:rPr>
              <a:t>"EasyPilot"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        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4983480" cy="4023360"/>
          </a:xfrm>
          <a:prstGeom prst="roundRect">
            <a:avLst>
              <a:gd name="adj" fmla="val 3000"/>
            </a:avLst>
          </a:prstGeom>
          <a:solidFill>
            <a:srgbClr val="141C33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377440"/>
            <a:ext cx="448056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Declarative: Beschreibung WAS angezeigt wird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@State für lokale UI-Zustände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Live-Updates bei Datenänderung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Kombiniert Views durch Stacks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Native Apple-Framework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TECHNOLOGY DEEP-DIVE</a:t>
            </a:r>
          </a:p>
        </p:txBody>
      </p:sp>
      <p:pic>
        <p:nvPicPr>
          <p:cNvPr id="4" name="Picture 3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412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868680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9EEFB"/>
                </a:solidFill>
                <a:latin typeface="Helvetica Neue"/>
              </a:rPr>
              <a:t>Network.framework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41732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7B8"/>
                </a:solidFill>
                <a:latin typeface="Helvetica Neue"/>
              </a:rPr>
              <a:t>Low-Level Networking in 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let</a:t>
            </a:r>
            <a:r>
              <a:rPr sz="1350">
                <a:solidFill>
                  <a:srgbClr val="E9EEFB"/>
                </a:solidFill>
                <a:latin typeface="Consolas"/>
              </a:rPr>
              <a:t> endpoint = </a:t>
            </a:r>
            <a:r>
              <a:rPr sz="1350">
                <a:solidFill>
                  <a:srgbClr val="7EE0C8"/>
                </a:solidFill>
                <a:latin typeface="Consolas"/>
              </a:rPr>
              <a:t>NWEndpoint</a:t>
            </a:r>
            <a:r>
              <a:rPr sz="1350">
                <a:solidFill>
                  <a:srgbClr val="E9EEFB"/>
                </a:solidFill>
                <a:latin typeface="Consolas"/>
              </a:rPr>
              <a:t>.hostPort(</a:t>
            </a:r>
            <a:r>
              <a:rPr sz="1350">
                <a:solidFill>
                  <a:srgbClr val="FF7AB2"/>
                </a:solidFill>
                <a:latin typeface="Consolas"/>
              </a:rPr>
              <a:t>host: </a:t>
            </a:r>
            <a:r>
              <a:rPr sz="1350">
                <a:solidFill>
                  <a:srgbClr val="C3E88D"/>
                </a:solidFill>
                <a:latin typeface="Consolas"/>
              </a:rPr>
              <a:t>"192.168.4.1"</a:t>
            </a:r>
            <a:r>
              <a:rPr sz="1350">
                <a:solidFill>
                  <a:srgbClr val="E9EEFB"/>
                </a:solidFill>
                <a:latin typeface="Consolas"/>
              </a:rPr>
              <a:t>, port: </a:t>
            </a:r>
            <a:r>
              <a:rPr sz="1350">
                <a:solidFill>
                  <a:srgbClr val="F7C873"/>
                </a:solidFill>
                <a:latin typeface="Consolas"/>
              </a:rPr>
              <a:t>80</a:t>
            </a:r>
            <a:r>
              <a:rPr sz="1350">
                <a:solidFill>
                  <a:srgbClr val="E9EEF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let</a:t>
            </a:r>
            <a:r>
              <a:rPr sz="1350">
                <a:solidFill>
                  <a:srgbClr val="E9EEFB"/>
                </a:solidFill>
                <a:latin typeface="Consolas"/>
              </a:rPr>
              <a:t> parameters = </a:t>
            </a:r>
            <a:r>
              <a:rPr sz="1350">
                <a:solidFill>
                  <a:srgbClr val="7EE0C8"/>
                </a:solidFill>
                <a:latin typeface="Consolas"/>
              </a:rPr>
              <a:t>NWParameters</a:t>
            </a:r>
            <a:r>
              <a:rPr sz="1350">
                <a:solidFill>
                  <a:srgbClr val="E9EEFB"/>
                </a:solidFill>
                <a:latin typeface="Consolas"/>
              </a:rPr>
              <a:t>.tcp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let</a:t>
            </a:r>
            <a:r>
              <a:rPr sz="1350">
                <a:solidFill>
                  <a:srgbClr val="E9EEFB"/>
                </a:solidFill>
                <a:latin typeface="Consolas"/>
              </a:rPr>
              <a:t> connection = </a:t>
            </a:r>
            <a:r>
              <a:rPr sz="1350">
                <a:solidFill>
                  <a:srgbClr val="7EE0C8"/>
                </a:solidFill>
                <a:latin typeface="Consolas"/>
              </a:rPr>
              <a:t>NWConnection</a:t>
            </a:r>
            <a:r>
              <a:rPr sz="1350">
                <a:solidFill>
                  <a:srgbClr val="E9EEFB"/>
                </a:solidFill>
                <a:latin typeface="Consolas"/>
              </a:rPr>
              <a:t>(to: endpoint, using: parameters)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connection.</a:t>
            </a:r>
            <a:r>
              <a:rPr sz="1350">
                <a:solidFill>
                  <a:srgbClr val="82AAFF"/>
                </a:solidFill>
                <a:latin typeface="Consolas"/>
              </a:rPr>
              <a:t>start</a:t>
            </a:r>
            <a:r>
              <a:rPr sz="1350">
                <a:solidFill>
                  <a:srgbClr val="E9EEFB"/>
                </a:solidFill>
                <a:latin typeface="Consolas"/>
              </a:rPr>
              <a:t>(queue: .global())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connection.</a:t>
            </a:r>
            <a:r>
              <a:rPr sz="1350">
                <a:solidFill>
                  <a:srgbClr val="82AAFF"/>
                </a:solidFill>
                <a:latin typeface="Consolas"/>
              </a:rPr>
              <a:t>send</a:t>
            </a:r>
            <a:r>
              <a:rPr sz="1350">
                <a:solidFill>
                  <a:srgbClr val="E9EEFB"/>
                </a:solidFill>
                <a:latin typeface="Consolas"/>
              </a:rPr>
              <a:t>(content: data, completion: .contentProcessed { _ in</a:t>
            </a:r>
            <a:r>
              <a:rPr sz="1350">
                <a:solidFill>
                  <a:srgbClr val="E9EEF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82AAFF"/>
                </a:solidFill>
                <a:latin typeface="Consolas"/>
              </a:rPr>
              <a:t>    print</a:t>
            </a:r>
            <a:r>
              <a:rPr sz="1350">
                <a:solidFill>
                  <a:srgbClr val="C3E88D"/>
                </a:solidFill>
                <a:latin typeface="Consolas"/>
              </a:rPr>
              <a:t>("sent"</a:t>
            </a:r>
            <a:r>
              <a:rPr sz="1350">
                <a:solidFill>
                  <a:srgbClr val="E9EEF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4983480" cy="4023360"/>
          </a:xfrm>
          <a:prstGeom prst="roundRect">
            <a:avLst>
              <a:gd name="adj" fmla="val 3000"/>
            </a:avLst>
          </a:prstGeom>
          <a:solidFill>
            <a:srgbClr val="141C33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377440"/>
            <a:ext cx="448056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TCP / UDP / TLS auf einer Ebene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NWListener für eingehende Verbindungen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Wird für UDP-Discovery genutzt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Warteschlangen-basiert (queues)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Ersatz für ältere Socket-APIs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TECHNOLOGY DEEP-DIVE</a:t>
            </a:r>
          </a:p>
        </p:txBody>
      </p:sp>
      <p:pic>
        <p:nvPicPr>
          <p:cNvPr id="4" name="Picture 3" descr="scenek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412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868680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9EEFB"/>
                </a:solidFill>
                <a:latin typeface="Helvetica Neue"/>
              </a:rPr>
              <a:t>SceneKit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41732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7B8"/>
                </a:solidFill>
                <a:latin typeface="Helvetica Neue"/>
              </a:rPr>
              <a:t>3D-Rendering-Engine für 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let</a:t>
            </a:r>
            <a:r>
              <a:rPr sz="1350">
                <a:solidFill>
                  <a:srgbClr val="E9EEFB"/>
                </a:solidFill>
                <a:latin typeface="Consolas"/>
              </a:rPr>
              <a:t> scene = </a:t>
            </a:r>
            <a:r>
              <a:rPr sz="1350">
                <a:solidFill>
                  <a:srgbClr val="7EE0C8"/>
                </a:solidFill>
                <a:latin typeface="Consolas"/>
              </a:rPr>
              <a:t>SCNScene</a:t>
            </a:r>
            <a:r>
              <a:rPr sz="1350">
                <a:solidFill>
                  <a:srgbClr val="E9EEFB"/>
                </a:solidFill>
                <a:latin typeface="Consolas"/>
              </a:rPr>
              <a:t>(named: </a:t>
            </a:r>
            <a:r>
              <a:rPr sz="1350">
                <a:solidFill>
                  <a:srgbClr val="C3E88D"/>
                </a:solidFill>
                <a:latin typeface="Consolas"/>
              </a:rPr>
              <a:t>"drone.usdz"</a:t>
            </a:r>
            <a:r>
              <a:rPr sz="1350">
                <a:solidFill>
                  <a:srgbClr val="E9EEFB"/>
                </a:solidFill>
                <a:latin typeface="Consolas"/>
              </a:rPr>
              <a:t>)!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let</a:t>
            </a:r>
            <a:r>
              <a:rPr sz="1350">
                <a:solidFill>
                  <a:srgbClr val="E9EEFB"/>
                </a:solidFill>
                <a:latin typeface="Consolas"/>
              </a:rPr>
              <a:t> drone = scene.</a:t>
            </a:r>
            <a:r>
              <a:rPr sz="1350">
                <a:solidFill>
                  <a:srgbClr val="82AAFF"/>
                </a:solidFill>
                <a:latin typeface="Consolas"/>
              </a:rPr>
              <a:t>rootNode</a:t>
            </a:r>
            <a:r>
              <a:rPr sz="1350">
                <a:solidFill>
                  <a:srgbClr val="E9EEFB"/>
                </a:solidFill>
                <a:latin typeface="Consolas"/>
              </a:rPr>
              <a:t>.childNode(withName: </a:t>
            </a:r>
            <a:r>
              <a:rPr sz="1350">
                <a:solidFill>
                  <a:srgbClr val="C3E88D"/>
                </a:solidFill>
                <a:latin typeface="Consolas"/>
              </a:rPr>
              <a:t>"drone"</a:t>
            </a:r>
            <a:r>
              <a:rPr sz="1350">
                <a:solidFill>
                  <a:srgbClr val="E9EEFB"/>
                </a:solidFill>
                <a:latin typeface="Consolas"/>
              </a:rPr>
              <a:t>, recursively: </a:t>
            </a:r>
            <a:r>
              <a:rPr sz="1350">
                <a:solidFill>
                  <a:srgbClr val="FF7AB2"/>
                </a:solidFill>
                <a:latin typeface="Consolas"/>
              </a:rPr>
              <a:t>true</a:t>
            </a:r>
            <a:r>
              <a:rPr sz="1350">
                <a:solidFill>
                  <a:srgbClr val="E9EEF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drone?.</a:t>
            </a:r>
            <a:r>
              <a:rPr sz="1350">
                <a:solidFill>
                  <a:srgbClr val="82AAFF"/>
                </a:solidFill>
                <a:latin typeface="Consolas"/>
              </a:rPr>
              <a:t>runAction</a:t>
            </a:r>
            <a:r>
              <a:rPr sz="1350">
                <a:solidFill>
                  <a:srgbClr val="E9EEFB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    .</a:t>
            </a:r>
            <a:r>
              <a:rPr sz="1350">
                <a:solidFill>
                  <a:srgbClr val="82AAFF"/>
                </a:solidFill>
                <a:latin typeface="Consolas"/>
              </a:rPr>
              <a:t>rotateBy</a:t>
            </a:r>
            <a:r>
              <a:rPr sz="1350">
                <a:solidFill>
                  <a:srgbClr val="E9EEFB"/>
                </a:solidFill>
                <a:latin typeface="Consolas"/>
              </a:rPr>
              <a:t>(x: </a:t>
            </a:r>
            <a:r>
              <a:rPr sz="1350">
                <a:solidFill>
                  <a:srgbClr val="F7C873"/>
                </a:solidFill>
                <a:latin typeface="Consolas"/>
              </a:rPr>
              <a:t>0</a:t>
            </a:r>
            <a:r>
              <a:rPr sz="1350">
                <a:solidFill>
                  <a:srgbClr val="E9EEFB"/>
                </a:solidFill>
                <a:latin typeface="Consolas"/>
              </a:rPr>
              <a:t>, y: </a:t>
            </a:r>
            <a:r>
              <a:rPr sz="1350">
                <a:solidFill>
                  <a:srgbClr val="F7C873"/>
                </a:solidFill>
                <a:latin typeface="Consolas"/>
              </a:rPr>
              <a:t>1</a:t>
            </a:r>
            <a:r>
              <a:rPr sz="1350">
                <a:solidFill>
                  <a:srgbClr val="E9EEFB"/>
                </a:solidFill>
                <a:latin typeface="Consolas"/>
              </a:rPr>
              <a:t>, z: </a:t>
            </a:r>
            <a:r>
              <a:rPr sz="1350">
                <a:solidFill>
                  <a:srgbClr val="F7C873"/>
                </a:solidFill>
                <a:latin typeface="Consolas"/>
              </a:rPr>
              <a:t>0</a:t>
            </a:r>
            <a:r>
              <a:rPr sz="1350">
                <a:solidFill>
                  <a:srgbClr val="E9EEFB"/>
                </a:solidFill>
                <a:latin typeface="Consolas"/>
              </a:rPr>
              <a:t>, duration: </a:t>
            </a:r>
            <a:r>
              <a:rPr sz="1350">
                <a:solidFill>
                  <a:srgbClr val="F7C873"/>
                </a:solidFill>
                <a:latin typeface="Consolas"/>
              </a:rPr>
              <a:t>2</a:t>
            </a:r>
            <a:r>
              <a:rPr sz="1350">
                <a:solidFill>
                  <a:srgbClr val="E9EEF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4983480" cy="4023360"/>
          </a:xfrm>
          <a:prstGeom prst="roundRect">
            <a:avLst>
              <a:gd name="adj" fmla="val 3000"/>
            </a:avLst>
          </a:prstGeom>
          <a:solidFill>
            <a:srgbClr val="141C33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377440"/>
            <a:ext cx="448056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Apples High-Level 3D-Framework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Lädt .usdz Modelle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Szenengraph aus SCNNodes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Animationen &amp; Actions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Physik-Engine integrierbar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TECHNOLOGY DEEP-DIVE</a:t>
            </a:r>
          </a:p>
        </p:txBody>
      </p:sp>
      <p:pic>
        <p:nvPicPr>
          <p:cNvPr id="4" name="Picture 3" descr="core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412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868680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9EEFB"/>
                </a:solidFill>
                <a:latin typeface="Helvetica Neue"/>
              </a:rPr>
              <a:t>CoreMotion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41732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7B8"/>
                </a:solidFill>
                <a:latin typeface="Helvetica Neue"/>
              </a:rPr>
              <a:t>Zugriff auf Bewegungssensoren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let</a:t>
            </a:r>
            <a:r>
              <a:rPr sz="1350">
                <a:solidFill>
                  <a:srgbClr val="E9EEFB"/>
                </a:solidFill>
                <a:latin typeface="Consolas"/>
              </a:rPr>
              <a:t> manager = </a:t>
            </a:r>
            <a:r>
              <a:rPr sz="1350">
                <a:solidFill>
                  <a:srgbClr val="7EE0C8"/>
                </a:solidFill>
                <a:latin typeface="Consolas"/>
              </a:rPr>
              <a:t>CMMotionManager</a:t>
            </a:r>
            <a:r>
              <a:rPr sz="1350">
                <a:solidFill>
                  <a:srgbClr val="E9EEFB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manager.</a:t>
            </a:r>
            <a:r>
              <a:rPr sz="1350">
                <a:solidFill>
                  <a:srgbClr val="82AAFF"/>
                </a:solidFill>
                <a:latin typeface="Consolas"/>
              </a:rPr>
              <a:t>deviceMotionUpdateInterval</a:t>
            </a:r>
            <a:r>
              <a:rPr sz="1350">
                <a:solidFill>
                  <a:srgbClr val="E9EEFB"/>
                </a:solidFill>
                <a:latin typeface="Consolas"/>
              </a:rPr>
              <a:t> = </a:t>
            </a:r>
            <a:r>
              <a:rPr sz="1350">
                <a:solidFill>
                  <a:srgbClr val="F7C873"/>
                </a:solidFill>
                <a:latin typeface="Consolas"/>
              </a:rPr>
              <a:t>1.0 / 10.0</a:t>
            </a:r>
            <a:r>
              <a:rPr sz="1350">
                <a:solidFill>
                  <a:srgbClr val="5D6B8F"/>
                </a:solidFill>
                <a:latin typeface="Consolas"/>
              </a:rPr>
              <a:t> // 10 Hz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manager.</a:t>
            </a:r>
            <a:r>
              <a:rPr sz="1350">
                <a:solidFill>
                  <a:srgbClr val="82AAFF"/>
                </a:solidFill>
                <a:latin typeface="Consolas"/>
              </a:rPr>
              <a:t>startDeviceMotionUpdates</a:t>
            </a:r>
            <a:r>
              <a:rPr sz="1350">
                <a:solidFill>
                  <a:srgbClr val="E9EEFB"/>
                </a:solidFill>
                <a:latin typeface="Consolas"/>
              </a:rPr>
              <a:t>(to: .main) { data, error </a:t>
            </a:r>
            <a:r>
              <a:rPr sz="1350">
                <a:solidFill>
                  <a:srgbClr val="FF7AB2"/>
                </a:solidFill>
                <a:latin typeface="Consolas"/>
              </a:rPr>
              <a:t>in</a:t>
            </a:r>
            <a:r>
              <a:rPr sz="1350">
                <a:solidFill>
                  <a:srgbClr val="E9EEF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    guard</a:t>
            </a:r>
            <a:r>
              <a:rPr sz="1350">
                <a:solidFill>
                  <a:srgbClr val="FF7AB2"/>
                </a:solidFill>
                <a:latin typeface="Consolas"/>
              </a:rPr>
              <a:t> let</a:t>
            </a:r>
            <a:r>
              <a:rPr sz="1350">
                <a:solidFill>
                  <a:srgbClr val="E9EEFB"/>
                </a:solidFill>
                <a:latin typeface="Consolas"/>
              </a:rPr>
              <a:t> attitude = data?.</a:t>
            </a:r>
            <a:r>
              <a:rPr sz="1350">
                <a:solidFill>
                  <a:srgbClr val="82AAFF"/>
                </a:solidFill>
                <a:latin typeface="Consolas"/>
              </a:rPr>
              <a:t>attitude</a:t>
            </a:r>
            <a:r>
              <a:rPr sz="1350">
                <a:solidFill>
                  <a:srgbClr val="FF7AB2"/>
                </a:solidFill>
                <a:latin typeface="Consolas"/>
              </a:rPr>
              <a:t> else</a:t>
            </a:r>
            <a:r>
              <a:rPr sz="1350">
                <a:solidFill>
                  <a:srgbClr val="E9EEFB"/>
                </a:solidFill>
                <a:latin typeface="Consolas"/>
              </a:rPr>
              <a:t> { return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    let</a:t>
            </a:r>
            <a:r>
              <a:rPr sz="1350">
                <a:solidFill>
                  <a:srgbClr val="E9EEFB"/>
                </a:solidFill>
                <a:latin typeface="Consolas"/>
              </a:rPr>
              <a:t> pitchDeg = attitude.</a:t>
            </a:r>
            <a:r>
              <a:rPr sz="1350">
                <a:solidFill>
                  <a:srgbClr val="82AAFF"/>
                </a:solidFill>
                <a:latin typeface="Consolas"/>
              </a:rPr>
              <a:t>pitch</a:t>
            </a:r>
            <a:r>
              <a:rPr sz="1350">
                <a:solidFill>
                  <a:srgbClr val="E9EEFB"/>
                </a:solidFill>
                <a:latin typeface="Consolas"/>
              </a:rPr>
              <a:t> * </a:t>
            </a:r>
            <a:r>
              <a:rPr sz="1350">
                <a:solidFill>
                  <a:srgbClr val="F7C873"/>
                </a:solidFill>
                <a:latin typeface="Consolas"/>
              </a:rPr>
              <a:t>180</a:t>
            </a:r>
            <a:r>
              <a:rPr sz="1350">
                <a:solidFill>
                  <a:srgbClr val="E9EEFB"/>
                </a:solidFill>
                <a:latin typeface="Consolas"/>
              </a:rPr>
              <a:t> / .pi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82AAFF"/>
                </a:solidFill>
                <a:latin typeface="Consolas"/>
              </a:rPr>
              <a:t>    print</a:t>
            </a:r>
            <a:r>
              <a:rPr sz="1350">
                <a:solidFill>
                  <a:srgbClr val="C3E88D"/>
                </a:solidFill>
                <a:latin typeface="Consolas"/>
              </a:rPr>
              <a:t>("Pitch: \(pitchDeg)°"</a:t>
            </a:r>
            <a:r>
              <a:rPr sz="1350">
                <a:solidFill>
                  <a:srgbClr val="E9EEF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4983480" cy="4023360"/>
          </a:xfrm>
          <a:prstGeom prst="roundRect">
            <a:avLst>
              <a:gd name="adj" fmla="val 3000"/>
            </a:avLst>
          </a:prstGeom>
          <a:solidFill>
            <a:srgbClr val="141C33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377440"/>
            <a:ext cx="448056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Gyroskop &amp; Accelerometer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DeviceMotion fusioniert Sensoren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Liefert pitch / roll / yaw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Konfigurierbare Update-Rate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Nebenläufig via OperationQueue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TECHNOLOGY DEEP-DIVE</a:t>
            </a:r>
          </a:p>
        </p:txBody>
      </p:sp>
      <p:pic>
        <p:nvPicPr>
          <p:cNvPr id="4" name="Picture 3" descr="webs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412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868680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9EEFB"/>
                </a:solidFill>
                <a:latin typeface="Helvetica Neue"/>
              </a:rPr>
              <a:t>WebSocket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41732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7B8"/>
                </a:solidFill>
                <a:latin typeface="Helvetica Neue"/>
              </a:rPr>
              <a:t>Vollduplex-Kommunikation über TCP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let</a:t>
            </a:r>
            <a:r>
              <a:rPr sz="1350">
                <a:solidFill>
                  <a:srgbClr val="E9EEFB"/>
                </a:solidFill>
                <a:latin typeface="Consolas"/>
              </a:rPr>
              <a:t> url = </a:t>
            </a:r>
            <a:r>
              <a:rPr sz="1350">
                <a:solidFill>
                  <a:srgbClr val="7EE0C8"/>
                </a:solidFill>
                <a:latin typeface="Consolas"/>
              </a:rPr>
              <a:t>URL</a:t>
            </a:r>
            <a:r>
              <a:rPr sz="1350">
                <a:solidFill>
                  <a:srgbClr val="E9EEFB"/>
                </a:solidFill>
                <a:latin typeface="Consolas"/>
              </a:rPr>
              <a:t>(string: </a:t>
            </a:r>
            <a:r>
              <a:rPr sz="1350">
                <a:solidFill>
                  <a:srgbClr val="C3E88D"/>
                </a:solidFill>
                <a:latin typeface="Consolas"/>
              </a:rPr>
              <a:t>"ws://drone.local/ws"</a:t>
            </a:r>
            <a:r>
              <a:rPr sz="1350">
                <a:solidFill>
                  <a:srgbClr val="E9EEFB"/>
                </a:solidFill>
                <a:latin typeface="Consolas"/>
              </a:rPr>
              <a:t>)!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let</a:t>
            </a:r>
            <a:r>
              <a:rPr sz="1350">
                <a:solidFill>
                  <a:srgbClr val="E9EEFB"/>
                </a:solidFill>
                <a:latin typeface="Consolas"/>
              </a:rPr>
              <a:t> task = </a:t>
            </a:r>
            <a:r>
              <a:rPr sz="1350">
                <a:solidFill>
                  <a:srgbClr val="7EE0C8"/>
                </a:solidFill>
                <a:latin typeface="Consolas"/>
              </a:rPr>
              <a:t>URLSession</a:t>
            </a:r>
            <a:r>
              <a:rPr sz="1350">
                <a:solidFill>
                  <a:srgbClr val="E9EEFB"/>
                </a:solidFill>
                <a:latin typeface="Consolas"/>
              </a:rPr>
              <a:t>.shared.</a:t>
            </a:r>
            <a:r>
              <a:rPr sz="1350">
                <a:solidFill>
                  <a:srgbClr val="82AAFF"/>
                </a:solidFill>
                <a:latin typeface="Consolas"/>
              </a:rPr>
              <a:t>webSocketTask</a:t>
            </a:r>
            <a:r>
              <a:rPr sz="1350">
                <a:solidFill>
                  <a:srgbClr val="E9EEFB"/>
                </a:solidFill>
                <a:latin typeface="Consolas"/>
              </a:rPr>
              <a:t>(with: url)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task.</a:t>
            </a:r>
            <a:r>
              <a:rPr sz="1350">
                <a:solidFill>
                  <a:srgbClr val="82AAFF"/>
                </a:solidFill>
                <a:latin typeface="Consolas"/>
              </a:rPr>
              <a:t>resume</a:t>
            </a:r>
            <a:r>
              <a:rPr sz="1350">
                <a:solidFill>
                  <a:srgbClr val="E9EEFB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task.</a:t>
            </a:r>
            <a:r>
              <a:rPr sz="1350">
                <a:solidFill>
                  <a:srgbClr val="82AAFF"/>
                </a:solidFill>
                <a:latin typeface="Consolas"/>
              </a:rPr>
              <a:t>send</a:t>
            </a:r>
            <a:r>
              <a:rPr sz="1350">
                <a:solidFill>
                  <a:srgbClr val="E9EEFB"/>
                </a:solidFill>
                <a:latin typeface="Consolas"/>
              </a:rPr>
              <a:t>(</a:t>
            </a:r>
            <a:r>
              <a:rPr sz="1350">
                <a:solidFill>
                  <a:srgbClr val="7EE0C8"/>
                </a:solidFill>
                <a:latin typeface="Consolas"/>
              </a:rPr>
              <a:t>.string</a:t>
            </a:r>
            <a:r>
              <a:rPr sz="1350">
                <a:solidFill>
                  <a:srgbClr val="E9EEFB"/>
                </a:solidFill>
                <a:latin typeface="Consolas"/>
              </a:rPr>
              <a:t>(</a:t>
            </a:r>
            <a:r>
              <a:rPr sz="1350">
                <a:solidFill>
                  <a:srgbClr val="C3E88D"/>
                </a:solidFill>
                <a:latin typeface="Consolas"/>
              </a:rPr>
              <a:t>"{"cmd":"ARM"}"</a:t>
            </a:r>
            <a:r>
              <a:rPr sz="1350">
                <a:solidFill>
                  <a:srgbClr val="E9EEFB"/>
                </a:solidFill>
                <a:latin typeface="Consolas"/>
              </a:rPr>
              <a:t>) { error </a:t>
            </a:r>
            <a:r>
              <a:rPr sz="1350">
                <a:solidFill>
                  <a:srgbClr val="FF7AB2"/>
                </a:solidFill>
                <a:latin typeface="Consolas"/>
              </a:rPr>
              <a:t>in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    if</a:t>
            </a:r>
            <a:r>
              <a:rPr sz="1350">
                <a:solidFill>
                  <a:srgbClr val="E9EEFB"/>
                </a:solidFill>
                <a:latin typeface="Consolas"/>
              </a:rPr>
              <a:t> error == </a:t>
            </a:r>
            <a:r>
              <a:rPr sz="1350">
                <a:solidFill>
                  <a:srgbClr val="FF7AB2"/>
                </a:solidFill>
                <a:latin typeface="Consolas"/>
              </a:rPr>
              <a:t>nil</a:t>
            </a:r>
            <a:r>
              <a:rPr sz="1350">
                <a:solidFill>
                  <a:srgbClr val="82AAFF"/>
                </a:solidFill>
                <a:latin typeface="Consolas"/>
              </a:rPr>
              <a:t> { print</a:t>
            </a:r>
            <a:r>
              <a:rPr sz="1350">
                <a:solidFill>
                  <a:srgbClr val="C3E88D"/>
                </a:solidFill>
                <a:latin typeface="Consolas"/>
              </a:rPr>
              <a:t>("armed"</a:t>
            </a:r>
            <a:r>
              <a:rPr sz="1350">
                <a:solidFill>
                  <a:srgbClr val="E9EEFB"/>
                </a:solidFill>
                <a:latin typeface="Consolas"/>
              </a:rPr>
              <a:t>)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4983480" cy="4023360"/>
          </a:xfrm>
          <a:prstGeom prst="roundRect">
            <a:avLst>
              <a:gd name="adj" fmla="val 3000"/>
            </a:avLst>
          </a:prstGeom>
          <a:solidFill>
            <a:srgbClr val="141C33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377440"/>
            <a:ext cx="448056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Vollduplex: gleichzeitig senden &amp; empfangen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Persistente Verbindung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Geringer Overhead pro Nachricht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Echtzeit-Telemetrie geeignet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Bidirektionale JSON-Kommandos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TECHNOLOGY DEEP-DIVE</a:t>
            </a:r>
          </a:p>
        </p:txBody>
      </p:sp>
      <p:pic>
        <p:nvPicPr>
          <p:cNvPr id="4" name="Picture 3" descr="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41248"/>
            <a:ext cx="914400" cy="2057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868680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9EEFB"/>
                </a:solidFill>
                <a:latin typeface="Helvetica Neue"/>
              </a:rPr>
              <a:t>ESP32 / Arduino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41732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7B8"/>
                </a:solidFill>
                <a:latin typeface="Helvetica Neue"/>
              </a:rPr>
              <a:t>On-drone Mikrocontroller-Firmware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#include &lt;WiFi.h&gt;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#include &lt;WebSocketsServer.h&gt;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WebSocketsServer </a:t>
            </a:r>
            <a:r>
              <a:rPr sz="1350">
                <a:solidFill>
                  <a:srgbClr val="E9EEFB"/>
                </a:solidFill>
                <a:latin typeface="Consolas"/>
              </a:rPr>
              <a:t>webSocket</a:t>
            </a:r>
            <a:r>
              <a:rPr sz="1350">
                <a:solidFill>
                  <a:srgbClr val="E9EEFB"/>
                </a:solidFill>
                <a:latin typeface="Consolas"/>
              </a:rPr>
              <a:t> = </a:t>
            </a:r>
            <a:r>
              <a:rPr sz="1350">
                <a:solidFill>
                  <a:srgbClr val="E9EEFB"/>
                </a:solidFill>
                <a:latin typeface="Consolas"/>
              </a:rPr>
              <a:t>WebSocketsServer(81)</a:t>
            </a:r>
            <a:r>
              <a:rPr sz="1350">
                <a:solidFill>
                  <a:srgbClr val="E9EEFB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void </a:t>
            </a:r>
            <a:r>
              <a:rPr sz="1350">
                <a:solidFill>
                  <a:srgbClr val="82AAFF"/>
                </a:solidFill>
                <a:latin typeface="Consolas"/>
              </a:rPr>
              <a:t>setup</a:t>
            </a:r>
            <a:r>
              <a:rPr sz="1350">
                <a:solidFill>
                  <a:srgbClr val="E9EEFB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    WiFi.</a:t>
            </a:r>
            <a:r>
              <a:rPr sz="1350">
                <a:solidFill>
                  <a:srgbClr val="82AAFF"/>
                </a:solidFill>
                <a:latin typeface="Consolas"/>
              </a:rPr>
              <a:t>softAP</a:t>
            </a:r>
            <a:r>
              <a:rPr sz="1350">
                <a:solidFill>
                  <a:srgbClr val="C3E88D"/>
                </a:solidFill>
                <a:latin typeface="Consolas"/>
              </a:rPr>
              <a:t>("EasyPilot"</a:t>
            </a:r>
            <a:r>
              <a:rPr sz="1350">
                <a:solidFill>
                  <a:srgbClr val="E9EEFB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    webSocket.</a:t>
            </a:r>
            <a:r>
              <a:rPr sz="1350">
                <a:solidFill>
                  <a:srgbClr val="82AAFF"/>
                </a:solidFill>
                <a:latin typeface="Consolas"/>
              </a:rPr>
              <a:t>begin</a:t>
            </a:r>
            <a:r>
              <a:rPr sz="1350">
                <a:solidFill>
                  <a:srgbClr val="E9EEFB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FF7AB2"/>
                </a:solidFill>
                <a:latin typeface="Consolas"/>
              </a:rPr>
              <a:t>void </a:t>
            </a:r>
            <a:r>
              <a:rPr sz="1350">
                <a:solidFill>
                  <a:srgbClr val="82AAFF"/>
                </a:solidFill>
                <a:latin typeface="Consolas"/>
              </a:rPr>
              <a:t>loop</a:t>
            </a:r>
            <a:r>
              <a:rPr sz="1350">
                <a:solidFill>
                  <a:srgbClr val="E9EEFB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    webSocket.</a:t>
            </a:r>
            <a:r>
              <a:rPr sz="1350">
                <a:solidFill>
                  <a:srgbClr val="82AAFF"/>
                </a:solidFill>
                <a:latin typeface="Consolas"/>
              </a:rPr>
              <a:t>loop</a:t>
            </a:r>
            <a:r>
              <a:rPr sz="1350">
                <a:solidFill>
                  <a:srgbClr val="E9EEFB"/>
                </a:solidFill>
                <a:latin typeface="Consolas"/>
              </a:rPr>
              <a:t>();</a:t>
            </a:r>
            <a:r>
              <a:rPr sz="1350">
                <a:solidFill>
                  <a:srgbClr val="5D6B8F"/>
                </a:solidFill>
                <a:latin typeface="Consolas"/>
              </a:rPr>
              <a:t> // auf Nachrichten prüfen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E9EEFB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4983480" cy="4023360"/>
          </a:xfrm>
          <a:prstGeom prst="roundRect">
            <a:avLst>
              <a:gd name="adj" fmla="val 3000"/>
            </a:avLst>
          </a:prstGeom>
          <a:solidFill>
            <a:srgbClr val="141C33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377440"/>
            <a:ext cx="448056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Dual-Core Mikrocontroller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Integriertes WiFi &amp; Bluetooth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Programmiert mit Arduino-Framework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Läuft als Access-Point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9EEFB"/>
                </a:solidFill>
                <a:latin typeface="Helvetica Neue"/>
              </a:rPr>
              <a:t>✦  WebSocket-Server für Befehle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Was wir gesehen haben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0607040" cy="35661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10058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E9EEFB"/>
                </a:solidFill>
                <a:latin typeface="Helvetica Neue"/>
              </a:rPr>
              <a:t>•  SwiftUI: deklarative UI mit Live-Bindings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E9EEFB"/>
                </a:solidFill>
                <a:latin typeface="Helvetica Neue"/>
              </a:rPr>
              <a:t>•  Network.framework: Low-Level Netzwerk-API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E9EEFB"/>
                </a:solidFill>
                <a:latin typeface="Helvetica Neue"/>
              </a:rPr>
              <a:t>•  SceneKit: 3D-Rendering und Simulator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E9EEFB"/>
                </a:solidFill>
                <a:latin typeface="Helvetica Neue"/>
              </a:rPr>
              <a:t>•  CoreMotion: Sensorfusion für Neigungsdaten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E9EEFB"/>
                </a:solidFill>
                <a:latin typeface="Helvetica Neue"/>
              </a:rPr>
              <a:t>•  WebSocket: Echtzeit-Kommunikation mit der Drohne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E9EEFB"/>
                </a:solidFill>
                <a:latin typeface="Helvetica Neue"/>
              </a:rPr>
              <a:t>•  ESP32: Onboard Mikrocontroller &amp; WebSocket-Server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7B8"/>
                </a:solidFill>
                <a:latin typeface="Helvetica Neue"/>
              </a:rPr>
              <a:t>EasyPilot · 4AHITM HTL · Technologie-Überblick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