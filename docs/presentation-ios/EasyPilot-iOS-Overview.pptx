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5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6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979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EASYPILOT · 4AHITM DRONE PROJECT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011680"/>
            <a:ext cx="1051560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5400" b="1">
                <a:solidFill>
                  <a:srgbClr val="E9EEFB"/>
                </a:solidFill>
                <a:latin typeface="Helvetica Neue"/>
              </a:rPr>
              <a:t>The EasyPilot </a:t>
            </a:r>
            <a:r>
              <a:rPr sz="5400" b="1">
                <a:solidFill>
                  <a:srgbClr val="2979FF"/>
                </a:solidFill>
                <a:latin typeface="Helvetica Neue"/>
              </a:rPr>
              <a:t>iOS App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200400"/>
            <a:ext cx="8686800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8A97B8"/>
                </a:solidFill>
                <a:latin typeface="Helvetica Neue"/>
              </a:rPr>
              <a:t>A SwiftUI companion app that auto-discovers the drone on the network,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8A97B8"/>
                </a:solidFill>
                <a:latin typeface="Helvetica Neue"/>
              </a:rPr>
              <a:t>streams live telemetry at 10 Hz, flies a 3D simulator, and sends</a:t>
            </a:r>
          </a:p>
          <a:p>
            <a:pPr algn="l">
              <a:spcBef>
                <a:spcPts val="0"/>
              </a:spcBef>
              <a:spcAft>
                <a:spcPts val="200"/>
              </a:spcAft>
            </a:pPr>
            <a:r>
              <a:rPr sz="2000" b="0">
                <a:solidFill>
                  <a:srgbClr val="8A97B8"/>
                </a:solidFill>
                <a:latin typeface="Helvetica Neue"/>
              </a:rPr>
              <a:t>flight commands over WebSocket.</a:t>
            </a:r>
          </a:p>
        </p:txBody>
      </p:sp>
      <p:pic>
        <p:nvPicPr>
          <p:cNvPr id="7" name="Picture 6" descr="sw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5215128"/>
            <a:ext cx="1463040" cy="451104"/>
          </a:xfrm>
          <a:prstGeom prst="rect">
            <a:avLst/>
          </a:prstGeom>
        </p:spPr>
      </p:pic>
      <p:pic>
        <p:nvPicPr>
          <p:cNvPr id="8" name="Picture 7" descr="swift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97480" y="5052060"/>
            <a:ext cx="777240" cy="777240"/>
          </a:xfrm>
          <a:prstGeom prst="rect">
            <a:avLst/>
          </a:prstGeom>
        </p:spPr>
      </p:pic>
      <p:pic>
        <p:nvPicPr>
          <p:cNvPr id="9" name="Picture 8" descr="sceneki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86200" y="5052060"/>
            <a:ext cx="777240" cy="777240"/>
          </a:xfrm>
          <a:prstGeom prst="rect">
            <a:avLst/>
          </a:prstGeom>
        </p:spPr>
      </p:pic>
      <p:pic>
        <p:nvPicPr>
          <p:cNvPr id="10" name="Picture 9" descr="coremotion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74920" y="5052060"/>
            <a:ext cx="777240" cy="777240"/>
          </a:xfrm>
          <a:prstGeom prst="rect">
            <a:avLst/>
          </a:prstGeom>
        </p:spPr>
      </p:pic>
      <p:pic>
        <p:nvPicPr>
          <p:cNvPr id="11" name="Picture 10" descr="network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63640" y="5052060"/>
            <a:ext cx="777240" cy="777240"/>
          </a:xfrm>
          <a:prstGeom prst="rect">
            <a:avLst/>
          </a:prstGeom>
        </p:spPr>
      </p:pic>
      <p:pic>
        <p:nvPicPr>
          <p:cNvPr id="12" name="Picture 11" descr="es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452360" y="5276088"/>
            <a:ext cx="1463040" cy="32918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TECHNOLOGIES USED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9EEFB"/>
                </a:solidFill>
                <a:latin typeface="Helvetica Neue"/>
              </a:rPr>
              <a:t>The iOS stack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swif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2121408"/>
            <a:ext cx="822957" cy="253745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103120" y="2121408"/>
            <a:ext cx="1965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9EEFB"/>
                </a:solidFill>
                <a:latin typeface="Helvetica Neue"/>
              </a:rPr>
              <a:t>Swift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3127248"/>
            <a:ext cx="2971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7B8"/>
                </a:solidFill>
                <a:latin typeface="Helvetica Neue"/>
              </a:rPr>
              <a:t>Apple's modern, type-safe language for the whole app.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4572000" y="18288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0" name="Picture 9" descr="swiftui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121408"/>
            <a:ext cx="822960" cy="82296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5897880" y="2121408"/>
            <a:ext cx="1965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9EEFB"/>
                </a:solidFill>
                <a:latin typeface="Helvetica Neue"/>
              </a:rPr>
              <a:t>SwiftUI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846320" y="3127248"/>
            <a:ext cx="2971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7B8"/>
                </a:solidFill>
                <a:latin typeface="Helvetica Neue"/>
              </a:rPr>
              <a:t>Declarative UI — TabView, glass cards, live bindings.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182880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4" name="Picture 13" descr="network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41080" y="2121408"/>
            <a:ext cx="822960" cy="8229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9692640" y="2121408"/>
            <a:ext cx="1965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9EEFB"/>
                </a:solidFill>
                <a:latin typeface="Helvetica Neue"/>
              </a:rPr>
              <a:t>Network.framework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41080" y="3127248"/>
            <a:ext cx="2971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7B8"/>
                </a:solidFill>
                <a:latin typeface="Helvetica Neue"/>
              </a:rPr>
              <a:t>NWListener UDP discovery + WebSocket data link.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77240" y="40690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8" name="Picture 17" descr="scenekit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51560" y="4361688"/>
            <a:ext cx="822960" cy="822960"/>
          </a:xfrm>
          <a:prstGeom prst="rect">
            <a:avLst/>
          </a:prstGeom>
        </p:spPr>
      </p:pic>
      <p:sp>
        <p:nvSpPr>
          <p:cNvPr id="19" name="TextBox 18"/>
          <p:cNvSpPr txBox="1"/>
          <p:nvPr/>
        </p:nvSpPr>
        <p:spPr>
          <a:xfrm>
            <a:off x="2103120" y="4361688"/>
            <a:ext cx="1965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9EEFB"/>
                </a:solidFill>
                <a:latin typeface="Helvetica Neue"/>
              </a:rPr>
              <a:t>SceneKit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5367528"/>
            <a:ext cx="2971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7B8"/>
                </a:solidFill>
                <a:latin typeface="Helvetica Neue"/>
              </a:rPr>
              <a:t>Real-time 3D flight simulator with .usdz drone model.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4572000" y="40690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2" name="Picture 21" descr="coremotion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46320" y="4361688"/>
            <a:ext cx="822960" cy="822960"/>
          </a:xfrm>
          <a:prstGeom prst="rect">
            <a:avLst/>
          </a:prstGeom>
        </p:spPr>
      </p:pic>
      <p:sp>
        <p:nvSpPr>
          <p:cNvPr id="23" name="TextBox 22"/>
          <p:cNvSpPr txBox="1"/>
          <p:nvPr/>
        </p:nvSpPr>
        <p:spPr>
          <a:xfrm>
            <a:off x="5897880" y="4361688"/>
            <a:ext cx="1965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9EEFB"/>
                </a:solidFill>
                <a:latin typeface="Helvetica Neue"/>
              </a:rPr>
              <a:t>CoreMotion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5367528"/>
            <a:ext cx="2971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7B8"/>
                </a:solidFill>
                <a:latin typeface="Helvetica Neue"/>
              </a:rPr>
              <a:t>Gyro / accelerometer read at 10 Hz for tilt control.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8366760" y="4069080"/>
            <a:ext cx="3520440" cy="196596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26" name="Picture 25" descr="esp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41080" y="4361688"/>
            <a:ext cx="822960" cy="185166"/>
          </a:xfrm>
          <a:prstGeom prst="rect">
            <a:avLst/>
          </a:prstGeom>
        </p:spPr>
      </p:pic>
      <p:sp>
        <p:nvSpPr>
          <p:cNvPr id="27" name="TextBox 26"/>
          <p:cNvSpPr txBox="1"/>
          <p:nvPr/>
        </p:nvSpPr>
        <p:spPr>
          <a:xfrm>
            <a:off x="9692640" y="4361688"/>
            <a:ext cx="1965960" cy="8229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700" b="1">
                <a:solidFill>
                  <a:srgbClr val="E9EEFB"/>
                </a:solidFill>
                <a:latin typeface="Helvetica Neue"/>
              </a:rPr>
              <a:t>Espressif ESP32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641080" y="5367528"/>
            <a:ext cx="2971800" cy="56692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0"/>
              </a:spcAft>
            </a:pPr>
            <a:r>
              <a:rPr sz="1300" b="0">
                <a:solidFill>
                  <a:srgbClr val="8A97B8"/>
                </a:solidFill>
                <a:latin typeface="Helvetica Neue"/>
              </a:rPr>
              <a:t>On-drone firmware: WiFi, WebSocket server, beacon.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CODE · SENSORS &amp; COMMANDS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9EEFB"/>
                </a:solidFill>
                <a:latin typeface="Helvetica Neue"/>
              </a:rPr>
              <a:t>Phone tilt → drone command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10607040" cy="3931920"/>
          </a:xfrm>
          <a:prstGeom prst="roundRect">
            <a:avLst>
              <a:gd name="adj" fmla="val 3000"/>
            </a:avLst>
          </a:prstGeom>
          <a:solidFill>
            <a:srgbClr val="0C1326"/>
          </a:solidFill>
          <a:ln w="12700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18288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B8F"/>
                </a:solidFill>
                <a:latin typeface="Consolas"/>
              </a:rPr>
              <a:t>// CoreMotion device-motion updates @ 10 Hz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>motionManager.</a:t>
            </a:r>
            <a:r>
              <a:rPr sz="1450">
                <a:solidFill>
                  <a:srgbClr val="82AAFF"/>
                </a:solidFill>
                <a:latin typeface="Consolas"/>
              </a:rPr>
              <a:t>startDeviceMotionUpdates</a:t>
            </a:r>
            <a:r>
              <a:rPr sz="1450">
                <a:solidFill>
                  <a:srgbClr val="E9EEFB"/>
                </a:solidFill>
                <a:latin typeface="Consolas"/>
              </a:rPr>
              <a:t>(to: .main) { data, _ </a:t>
            </a:r>
            <a:r>
              <a:rPr sz="1450">
                <a:solidFill>
                  <a:srgbClr val="FF7AB2"/>
                </a:solidFill>
                <a:latin typeface="Consolas"/>
              </a:rPr>
              <a:t>in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let</a:t>
            </a:r>
            <a:r>
              <a:rPr sz="1450">
                <a:solidFill>
                  <a:srgbClr val="E9EEFB"/>
                </a:solidFill>
                <a:latin typeface="Consolas"/>
              </a:rPr>
              <a:t> r = </a:t>
            </a:r>
            <a:r>
              <a:rPr sz="1450">
                <a:solidFill>
                  <a:srgbClr val="F7C873"/>
                </a:solidFill>
                <a:latin typeface="Consolas"/>
              </a:rPr>
              <a:t>180</a:t>
            </a:r>
            <a:r>
              <a:rPr sz="1450">
                <a:solidFill>
                  <a:srgbClr val="E9EEFB"/>
                </a:solidFill>
                <a:latin typeface="Consolas"/>
              </a:rPr>
              <a:t> / .pi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self</a:t>
            </a:r>
            <a:r>
              <a:rPr sz="1450">
                <a:solidFill>
                  <a:srgbClr val="E9EEFB"/>
                </a:solidFill>
                <a:latin typeface="Consolas"/>
              </a:rPr>
              <a:t>.pitch = data.attitude.pitch * r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self</a:t>
            </a:r>
            <a:r>
              <a:rPr sz="1450">
                <a:solidFill>
                  <a:srgbClr val="E9EEFB"/>
                </a:solidFill>
                <a:latin typeface="Consolas"/>
              </a:rPr>
              <a:t>.roll  = data.attitude.roll  * r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>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B8F"/>
                </a:solidFill>
                <a:latin typeface="Consolas"/>
              </a:rPr>
              <a:t>// Type-safe JSON command builder (ControlProfile)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func </a:t>
            </a:r>
            <a:r>
              <a:rPr sz="1450">
                <a:solidFill>
                  <a:srgbClr val="82AAFF"/>
                </a:solidFill>
                <a:latin typeface="Consolas"/>
              </a:rPr>
              <a:t>startBalanceCommand</a:t>
            </a:r>
            <a:r>
              <a:rPr sz="1450">
                <a:solidFill>
                  <a:srgbClr val="E9EEFB"/>
                </a:solidFill>
                <a:latin typeface="Consolas"/>
              </a:rPr>
              <a:t>() -&gt; </a:t>
            </a:r>
            <a:r>
              <a:rPr sz="1450">
                <a:solidFill>
                  <a:srgbClr val="7EE0C8"/>
                </a:solidFill>
                <a:latin typeface="Consolas"/>
              </a:rPr>
              <a:t>String</a:t>
            </a:r>
            <a:r>
              <a:rPr sz="1450">
                <a:solidFill>
                  <a:srgbClr val="E9EEFB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>    </a:t>
            </a:r>
            <a:r>
              <a:rPr sz="1450">
                <a:solidFill>
                  <a:srgbClr val="C3E88D"/>
                </a:solidFill>
                <a:latin typeface="Consolas"/>
              </a:rPr>
              <a:t>"""{"cmd":"START_BALANCE","baseThrottle":\(baseThrottle),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C3E88D"/>
                </a:solidFill>
                <a:latin typeface="Consolas"/>
              </a:rPr>
              <a:t>       "kPRoll":\(kPRoll),"kPPitch":\(kPPitch)}"""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CODE · THE THREADING CHALLENGE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9EEFB"/>
                </a:solidFill>
                <a:latin typeface="Helvetica Neue"/>
              </a:rPr>
              <a:t>Two threads, one drone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1691640"/>
            <a:ext cx="1060704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600" b="0">
                <a:solidFill>
                  <a:srgbClr val="8A97B8"/>
                </a:solidFill>
                <a:latin typeface="Helvetica Neue"/>
              </a:rPr>
              <a:t>Physics on SceneKit's render thread must never touch SwiftUI directly — so internal state is kept separate from published state.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77240" y="2423160"/>
            <a:ext cx="10607040" cy="3931920"/>
          </a:xfrm>
          <a:prstGeom prst="roundRect">
            <a:avLst>
              <a:gd name="adj" fmla="val 3000"/>
            </a:avLst>
          </a:prstGeom>
          <a:solidFill>
            <a:srgbClr val="0C1326"/>
          </a:solidFill>
          <a:ln w="12700">
            <a:solidFill>
              <a:srgbClr val="2979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28600" rIns="182880"/>
          <a:lstStyle/>
          <a:p>
            <a:pPr algn="ctr"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class </a:t>
            </a:r>
            <a:r>
              <a:rPr sz="1450">
                <a:solidFill>
                  <a:srgbClr val="7EE0C8"/>
                </a:solidFill>
                <a:latin typeface="Consolas"/>
              </a:rPr>
              <a:t>DroneSimulator</a:t>
            </a:r>
            <a:r>
              <a:rPr sz="1450">
                <a:solidFill>
                  <a:srgbClr val="E9EEFB"/>
                </a:solidFill>
                <a:latin typeface="Consolas"/>
              </a:rPr>
              <a:t>: </a:t>
            </a:r>
            <a:r>
              <a:rPr sz="1450">
                <a:solidFill>
                  <a:srgbClr val="7EE0C8"/>
                </a:solidFill>
                <a:latin typeface="Consolas"/>
              </a:rPr>
              <a:t>ObservableObject</a:t>
            </a:r>
            <a:r>
              <a:rPr sz="1450">
                <a:solidFill>
                  <a:srgbClr val="E9EEFB"/>
                </a:solidFill>
                <a:latin typeface="Consolas"/>
              </a:rPr>
              <a:t> {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B8F"/>
                </a:solidFill>
                <a:latin typeface="Consolas"/>
              </a:rPr>
              <a:t>    // Main thread only — drives SwiftUI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>    @</a:t>
            </a:r>
            <a:r>
              <a:rPr sz="1450">
                <a:solidFill>
                  <a:srgbClr val="7EE0C8"/>
                </a:solidFill>
                <a:latin typeface="Consolas"/>
              </a:rPr>
              <a:t>Published</a:t>
            </a:r>
            <a:r>
              <a:rPr sz="1450">
                <a:solidFill>
                  <a:srgbClr val="FF7AB2"/>
                </a:solidFill>
                <a:latin typeface="Consolas"/>
              </a:rPr>
              <a:t> var</a:t>
            </a:r>
            <a:r>
              <a:rPr sz="1450">
                <a:solidFill>
                  <a:srgbClr val="E9EEFB"/>
                </a:solidFill>
                <a:latin typeface="Consolas"/>
              </a:rPr>
              <a:t> simRoll = </a:t>
            </a:r>
            <a:r>
              <a:rPr sz="1450">
                <a:solidFill>
                  <a:srgbClr val="F7C873"/>
                </a:solidFill>
                <a:latin typeface="Consolas"/>
              </a:rPr>
              <a:t>0.0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>    @</a:t>
            </a:r>
            <a:r>
              <a:rPr sz="1450">
                <a:solidFill>
                  <a:srgbClr val="7EE0C8"/>
                </a:solidFill>
                <a:latin typeface="Consolas"/>
              </a:rPr>
              <a:t>Published</a:t>
            </a:r>
            <a:r>
              <a:rPr sz="1450">
                <a:solidFill>
                  <a:srgbClr val="FF7AB2"/>
                </a:solidFill>
                <a:latin typeface="Consolas"/>
              </a:rPr>
              <a:t> var</a:t>
            </a:r>
            <a:r>
              <a:rPr sz="1450">
                <a:solidFill>
                  <a:srgbClr val="E9EEFB"/>
                </a:solidFill>
                <a:latin typeface="Consolas"/>
              </a:rPr>
              <a:t> isCrashed = </a:t>
            </a:r>
            <a:r>
              <a:rPr sz="1450">
                <a:solidFill>
                  <a:srgbClr val="FF7AB2"/>
                </a:solidFill>
                <a:latin typeface="Consolas"/>
              </a:rPr>
              <a:t>false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5D6B8F"/>
                </a:solidFill>
                <a:latin typeface="Consolas"/>
              </a:rPr>
              <a:t>    // Render thread only — raw physics integration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var</a:t>
            </a:r>
            <a:r>
              <a:rPr sz="1450">
                <a:solidFill>
                  <a:srgbClr val="E9EEFB"/>
                </a:solidFill>
                <a:latin typeface="Consolas"/>
              </a:rPr>
              <a:t> _roll = </a:t>
            </a:r>
            <a:r>
              <a:rPr sz="1450">
                <a:solidFill>
                  <a:srgbClr val="F7C873"/>
                </a:solidFill>
                <a:latin typeface="Consolas"/>
              </a:rPr>
              <a:t>0.0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var</a:t>
            </a:r>
            <a:r>
              <a:rPr sz="1450">
                <a:solidFill>
                  <a:srgbClr val="E9EEFB"/>
                </a:solidFill>
                <a:latin typeface="Consolas"/>
              </a:rPr>
              <a:t> _vel: </a:t>
            </a:r>
            <a:r>
              <a:rPr sz="1450">
                <a:solidFill>
                  <a:srgbClr val="7EE0C8"/>
                </a:solidFill>
                <a:latin typeface="Consolas"/>
              </a:rPr>
              <a:t>SIMD3</a:t>
            </a:r>
            <a:r>
              <a:rPr sz="1450">
                <a:solidFill>
                  <a:srgbClr val="E9EEFB"/>
                </a:solidFill>
                <a:latin typeface="Consolas"/>
              </a:rPr>
              <a:t>&lt;</a:t>
            </a:r>
            <a:r>
              <a:rPr sz="1450">
                <a:solidFill>
                  <a:srgbClr val="7EE0C8"/>
                </a:solidFill>
                <a:latin typeface="Consolas"/>
              </a:rPr>
              <a:t>Float</a:t>
            </a:r>
            <a:r>
              <a:rPr sz="1450">
                <a:solidFill>
                  <a:srgbClr val="E9EEFB"/>
                </a:solidFill>
                <a:latin typeface="Consolas"/>
              </a:rPr>
              <a:t>&gt; = .zero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/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func </a:t>
            </a:r>
            <a:r>
              <a:rPr sz="1450">
                <a:solidFill>
                  <a:srgbClr val="82AAFF"/>
                </a:solidFill>
                <a:latin typeface="Consolas"/>
              </a:rPr>
              <a:t>tick</a:t>
            </a:r>
            <a:r>
              <a:rPr sz="1450">
                <a:solidFill>
                  <a:srgbClr val="E9EEFB"/>
                </a:solidFill>
                <a:latin typeface="Consolas"/>
              </a:rPr>
              <a:t>(dt: </a:t>
            </a:r>
            <a:r>
              <a:rPr sz="1450">
                <a:solidFill>
                  <a:srgbClr val="7EE0C8"/>
                </a:solidFill>
                <a:latin typeface="Consolas"/>
              </a:rPr>
              <a:t>Double</a:t>
            </a:r>
            <a:r>
              <a:rPr sz="1450">
                <a:solidFill>
                  <a:srgbClr val="E9EEFB"/>
                </a:solidFill>
                <a:latin typeface="Consolas"/>
              </a:rPr>
              <a:t>) { </a:t>
            </a:r>
            <a:r>
              <a:rPr sz="1450">
                <a:solidFill>
                  <a:srgbClr val="5D6B8F"/>
                </a:solidFill>
                <a:latin typeface="Consolas"/>
              </a:rPr>
              <a:t>/* render thread: physics */</a:t>
            </a:r>
            <a:r>
              <a:rPr sz="1450">
                <a:solidFill>
                  <a:srgbClr val="E9EEFB"/>
                </a:solidFill>
                <a:latin typeface="Consolas"/>
              </a:rPr>
              <a:t>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FF7AB2"/>
                </a:solidFill>
                <a:latin typeface="Consolas"/>
              </a:rPr>
              <a:t>    func </a:t>
            </a:r>
            <a:r>
              <a:rPr sz="1450">
                <a:solidFill>
                  <a:srgbClr val="82AAFF"/>
                </a:solidFill>
                <a:latin typeface="Consolas"/>
              </a:rPr>
              <a:t>syncPublished</a:t>
            </a:r>
            <a:r>
              <a:rPr sz="1450">
                <a:solidFill>
                  <a:srgbClr val="E9EEFB"/>
                </a:solidFill>
                <a:latin typeface="Consolas"/>
              </a:rPr>
              <a:t>() { </a:t>
            </a:r>
            <a:r>
              <a:rPr sz="1450">
                <a:solidFill>
                  <a:srgbClr val="5D6B8F"/>
                </a:solidFill>
                <a:latin typeface="Consolas"/>
              </a:rPr>
              <a:t>/* main: _vars → @Published */</a:t>
            </a:r>
            <a:r>
              <a:rPr sz="1450">
                <a:solidFill>
                  <a:srgbClr val="E9EEFB"/>
                </a:solidFill>
                <a:latin typeface="Consolas"/>
              </a:rPr>
              <a:t> }</a:t>
            </a:r>
          </a:p>
          <a:p>
            <a:pPr>
              <a:lnSpc>
                <a:spcPct val="100000"/>
              </a:lnSpc>
              <a:spcAft>
                <a:spcPts val="200"/>
              </a:spcAft>
            </a:pPr>
            <a:r>
              <a:rPr sz="1450">
                <a:solidFill>
                  <a:srgbClr val="E9EEFB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F1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77240" y="502920"/>
            <a:ext cx="10058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1500" b="1">
                <a:solidFill>
                  <a:srgbClr val="2979FF"/>
                </a:solidFill>
                <a:latin typeface="Helvetica Neue"/>
              </a:rPr>
              <a:t>WRAP-UP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868680"/>
            <a:ext cx="1060704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4000" b="1">
                <a:solidFill>
                  <a:srgbClr val="E9EEFB"/>
                </a:solidFill>
                <a:latin typeface="Helvetica Neue"/>
              </a:rPr>
              <a:t>Where we are &amp; what's next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77240" y="1828800"/>
            <a:ext cx="5349240" cy="320040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33D9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97280" y="20574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33D980"/>
                </a:solidFill>
                <a:latin typeface="Helvetica Neue"/>
              </a:rPr>
              <a:t>✓  Done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43000" y="2834640"/>
            <a:ext cx="47548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9EEFB"/>
                </a:solidFill>
                <a:latin typeface="Helvetica Neue"/>
              </a:rPr>
              <a:t>•  Auto-discovery + WebSocket telemetry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9EEFB"/>
                </a:solidFill>
                <a:latin typeface="Helvetica Neue"/>
              </a:rPr>
              <a:t>•  Live Dashboard with 3D drone view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9EEFB"/>
                </a:solidFill>
                <a:latin typeface="Helvetica Neue"/>
              </a:rPr>
              <a:t>•  Full 3D flight Simulator (Rate / Balance / PosHold)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9EEFB"/>
                </a:solidFill>
                <a:latin typeface="Helvetica Neue"/>
              </a:rPr>
              <a:t>•  Mode 2 virtual joysticks</a:t>
            </a:r>
          </a:p>
          <a:p>
            <a:pPr algn="l">
              <a:spcBef>
                <a:spcPts val="0"/>
              </a:spcBef>
              <a:spcAft>
                <a:spcPts val="800"/>
              </a:spcAft>
            </a:pPr>
            <a:r>
              <a:rPr sz="1600" b="0">
                <a:solidFill>
                  <a:srgbClr val="E9EEFB"/>
                </a:solidFill>
                <a:latin typeface="Helvetica Neue"/>
              </a:rPr>
              <a:t>•  Tunable, savable control profiles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0" y="1828800"/>
            <a:ext cx="4983480" cy="3200400"/>
          </a:xfrm>
          <a:prstGeom prst="roundRect">
            <a:avLst>
              <a:gd name="adj" fmla="val 6000"/>
            </a:avLst>
          </a:prstGeom>
          <a:solidFill>
            <a:srgbClr val="141C33"/>
          </a:solidFill>
          <a:ln w="15875">
            <a:solidFill>
              <a:srgbClr val="FF99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20840" y="2057400"/>
            <a:ext cx="457200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600"/>
              </a:spcAft>
            </a:pPr>
            <a:r>
              <a:rPr sz="2400" b="1">
                <a:solidFill>
                  <a:srgbClr val="FF9900"/>
                </a:solidFill>
                <a:latin typeface="Helvetica Neue"/>
              </a:rPr>
              <a:t>→  Next (Sprint 6)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766560" y="2834640"/>
            <a:ext cx="438912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E9EEFB"/>
                </a:solidFill>
                <a:latin typeface="Helvetica Neue"/>
              </a:rPr>
              <a:t>•  Live mode — fly the real drone from the joysticks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E9EEFB"/>
                </a:solidFill>
                <a:latin typeface="Helvetica Neue"/>
              </a:rPr>
              <a:t>•  Real MSP telemetry from the Betaflight FC</a:t>
            </a:r>
          </a:p>
          <a:p>
            <a:pPr algn="l">
              <a:spcBef>
                <a:spcPts val="0"/>
              </a:spcBef>
              <a:spcAft>
                <a:spcPts val="1000"/>
              </a:spcAft>
            </a:pPr>
            <a:r>
              <a:rPr sz="1600" b="0">
                <a:solidFill>
                  <a:srgbClr val="E9EEFB"/>
                </a:solidFill>
                <a:latin typeface="Helvetica Neue"/>
              </a:rPr>
              <a:t>•  Landscape UI polish &amp; touch-aware stabilization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5852160"/>
            <a:ext cx="1060704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spcBef>
                <a:spcPts val="0"/>
              </a:spcBef>
              <a:spcAft>
                <a:spcPts val="600"/>
              </a:spcAft>
            </a:pPr>
            <a:r>
              <a:rPr sz="1500" b="0">
                <a:solidFill>
                  <a:srgbClr val="8A97B8"/>
                </a:solidFill>
                <a:latin typeface="Helvetica Neue"/>
              </a:rPr>
              <a:t>EasyPilot · 4AHITM HTL · iOS subsystem overview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