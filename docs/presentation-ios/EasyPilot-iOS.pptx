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2743200"/>
            <a:ext cx="12191695" cy="4114800"/>
          </a:xfrm>
          <a:custGeom>
            <a:avLst/>
            <a:gdLst/>
            <a:ahLst/>
            <a:cxnLst/>
            <a:rect l="l" t="t" r="r" b="b"/>
            <a:pathLst>
              <a:path w="12191695" h="4114800">
                <a:moveTo>
                  <a:pt x="0" y="2606040"/>
                </a:moveTo>
                <a:lnTo>
                  <a:pt x="12191695" y="0"/>
                </a:lnTo>
                <a:lnTo>
                  <a:pt x="12191695" y="4114800"/>
                </a:lnTo>
                <a:lnTo>
                  <a:pt x="0" y="4114800"/>
                </a:lnTo>
                <a:close/>
              </a:path>
            </a:pathLst>
          </a:custGeom>
          <a:solidFill>
            <a:srgbClr val="2C3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000" b="0">
                <a:solidFill>
                  <a:srgbClr val="103A50"/>
                </a:solidFill>
                <a:latin typeface="Georgia"/>
              </a:rPr>
              <a:t>EasyPilot </a:t>
            </a:r>
            <a:r>
              <a:rPr sz="6000" b="0">
                <a:solidFill>
                  <a:srgbClr val="C9B79C"/>
                </a:solidFill>
                <a:latin typeface="Georgia"/>
              </a:rPr>
              <a:t>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0">
                <a:solidFill>
                  <a:srgbClr val="6B7482"/>
                </a:solidFill>
                <a:latin typeface="Calibr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0">
                <a:solidFill>
                  <a:srgbClr val="6B7482"/>
                </a:solidFill>
                <a:latin typeface="Calibri"/>
              </a:rPr>
              <a:t>selbst im WLAN, zeigt Live-Telemetrie und fliegt einen 3D-Simulator.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333B47"/>
                </a:solidFill>
                <a:latin typeface="Calibri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482"/>
                </a:solidFill>
                <a:latin typeface="Calibr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2C3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0" y="4251960"/>
            <a:ext cx="5852160" cy="1645920"/>
          </a:xfrm>
          <a:prstGeom prst="line">
            <a:avLst/>
          </a:prstGeom>
          <a:ln w="31750">
            <a:solidFill>
              <a:srgbClr val="C9B7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858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0">
                <a:solidFill>
                  <a:srgbClr val="FFFFFF"/>
                </a:solidFill>
                <a:latin typeface="Georgia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49377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9B79C"/>
                </a:solidFill>
                <a:latin typeface="Calibri"/>
              </a:rPr>
              <a:t>●  </a:t>
            </a:r>
            <a:r>
              <a:rPr sz="1600" b="0">
                <a:solidFill>
                  <a:srgbClr val="D7DCE3"/>
                </a:solidFill>
                <a:latin typeface="Calibri"/>
              </a:rPr>
              <a:t>EasyPilot ist unser 4AHITM-Drohnenprojekt: eine selbstgebaute Drohne mit ESP32-Steuerung.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9B79C"/>
                </a:solidFill>
                <a:latin typeface="Calibri"/>
              </a:rPr>
              <a:t>●  </a:t>
            </a:r>
            <a:r>
              <a:rPr sz="1600" b="0">
                <a:solidFill>
                  <a:srgbClr val="D7DCE3"/>
                </a:solidFill>
                <a:latin typeface="Calibri"/>
              </a:rPr>
              <a:t>Die iOS-App ist der mobile Co-Pilot – komplett in SwiftUI mit reinen Apple-Frameworks, ohne Fremd-Bibliotheken.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9B79C"/>
                </a:solidFill>
                <a:latin typeface="Calibri"/>
              </a:rPr>
              <a:t>●  </a:t>
            </a:r>
            <a:r>
              <a:rPr sz="1600" b="0">
                <a:solidFill>
                  <a:srgbClr val="D7DCE3"/>
                </a:solidFill>
                <a:latin typeface="Calibri"/>
              </a:rPr>
              <a:t>Sie findet die Drohne automatisch im WLAN (kein Eintippen einer IP) und verbindet sich per WebSocket.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9B79C"/>
                </a:solidFill>
                <a:latin typeface="Calibri"/>
              </a:rPr>
              <a:t>●  </a:t>
            </a:r>
            <a:r>
              <a:rPr sz="1600" b="0">
                <a:solidFill>
                  <a:srgbClr val="D7DCE3"/>
                </a:solidFill>
                <a:latin typeface="Calibri"/>
              </a:rPr>
              <a:t>Live-Telemetrie mit 10 Hz, ein 3D-Flugsimulator und das Senden von Flugbefehlen – alles auf dem iPhone.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554480"/>
            <a:ext cx="42062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0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554480"/>
            <a:ext cx="42062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03A50"/>
                </a:solidFill>
                <a:latin typeface="Calibri"/>
              </a:rPr>
              <a:t>iPhone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B7482"/>
                </a:solidFill>
                <a:latin typeface="Calibri"/>
              </a:rPr>
              <a:t>EasyPilot App (SwiftUI)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480560"/>
            <a:ext cx="42062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C9B7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4480560"/>
            <a:ext cx="42062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03A50"/>
                </a:solidFill>
                <a:latin typeface="Calibri"/>
              </a:rPr>
              <a:t>ESP32-C3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B7482"/>
                </a:solidFill>
                <a:latin typeface="Calibri"/>
              </a:rPr>
              <a:t>Drohne · WLAN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95360" y="2697480"/>
            <a:ext cx="0" cy="1783080"/>
          </a:xfrm>
          <a:prstGeom prst="line">
            <a:avLst/>
          </a:prstGeom>
          <a:ln w="28575">
            <a:solidFill>
              <a:srgbClr val="2C364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326880" y="2697480"/>
            <a:ext cx="0" cy="1783080"/>
          </a:xfrm>
          <a:prstGeom prst="line">
            <a:avLst/>
          </a:prstGeom>
          <a:ln w="28575">
            <a:solidFill>
              <a:srgbClr val="2C364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0" y="3063240"/>
            <a:ext cx="4206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2"/>
                </a:solidFill>
                <a:latin typeface="Calibri"/>
              </a:rPr>
              <a:t>UDP-Discovery · Port 4242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2"/>
                </a:solidFill>
                <a:latin typeface="Calibri"/>
              </a:rPr>
              <a:t>WebSocket · Port 81 · 10 Hz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2C3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0"/>
            <a:ext cx="1005840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0">
                <a:solidFill>
                  <a:srgbClr val="FFFFFF"/>
                </a:solidFill>
                <a:latin typeface="Georgia"/>
              </a:rPr>
              <a:t>EasyPilot iOS –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03A50"/>
                </a:solidFill>
                <a:latin typeface="Calibri"/>
              </a:rPr>
              <a:t>APP · iPHONE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B79C"/>
                </a:solidFill>
                <a:latin typeface="Calibri"/>
              </a:rPr>
              <a:t>DROHNE · ESP32-C3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23160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23160"/>
            <a:ext cx="73152" cy="731520"/>
          </a:xfrm>
          <a:prstGeom prst="rect">
            <a:avLst/>
          </a:prstGeom>
          <a:solidFill>
            <a:srgbClr val="10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423160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Swift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Programmiersprache der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73552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273552"/>
            <a:ext cx="73152" cy="731520"/>
          </a:xfrm>
          <a:prstGeom prst="rect">
            <a:avLst/>
          </a:prstGeom>
          <a:solidFill>
            <a:srgbClr val="10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73552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SwiftUI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Deklarative UI, Live-Bindings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23944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123944"/>
            <a:ext cx="73152" cy="731520"/>
          </a:xfrm>
          <a:prstGeom prst="rect">
            <a:avLst/>
          </a:prstGeom>
          <a:solidFill>
            <a:srgbClr val="10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123944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Network.framework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UDP-Discovery + WebSocket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974336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974336"/>
            <a:ext cx="73152" cy="731520"/>
          </a:xfrm>
          <a:prstGeom prst="rect">
            <a:avLst/>
          </a:prstGeom>
          <a:solidFill>
            <a:srgbClr val="10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4974336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SceneKit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3D-Flugsimulator (.usdz-Modell)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2472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824728"/>
            <a:ext cx="73152" cy="731520"/>
          </a:xfrm>
          <a:prstGeom prst="rect">
            <a:avLst/>
          </a:prstGeom>
          <a:solidFill>
            <a:srgbClr val="10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5824728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CoreMotion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Gyro/Beschleunigung @ 10 Hz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423160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2423160"/>
            <a:ext cx="73152" cy="73152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423160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ESP32-C3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WLAN-Mikrocontroller der Drohne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3273552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66560" y="3273552"/>
            <a:ext cx="73152" cy="73152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3273552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WebSocket-Server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Befehle + Telemetrie, Port 81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4123944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4123944"/>
            <a:ext cx="73152" cy="73152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123944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UDP-Beacon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"EASYPILOT:&lt;IP&gt;" · Port 4242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4974336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66560" y="4974336"/>
            <a:ext cx="73152" cy="73152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2592" y="4974336"/>
            <a:ext cx="455371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03A50"/>
                </a:solidFill>
                <a:latin typeface="Calibri"/>
              </a:rPr>
              <a:t>Arduino / C++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6B7482"/>
                </a:solidFill>
                <a:latin typeface="Calibri"/>
              </a:rPr>
              <a:t>Firmware &amp; Balancing-Algorithmus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0"/>
            <a:ext cx="73152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400" b="0">
                <a:solidFill>
                  <a:srgbClr val="FFFFFF"/>
                </a:solidFill>
                <a:latin typeface="Georgia"/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160520"/>
            <a:ext cx="2011680" cy="3810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